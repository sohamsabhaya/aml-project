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BrainScan AI classifies a single brain MRI slice into glioma, meningioma, pituitary tumor or no tumor, explains the result with a heatmap, and is wrapped in a web application. Say at the start that this is a course prototype and not a medical device. Introduce each team member by name and say which part they did. Fill in the bracketed placeholders (member names, guide, date)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Brain MRI reading is specialised work, and tumor type matters for what happens next. The project asks a narrow, well-defined question: given one 2-D slice, which of four classes is it? We chose it because public data exists and because it lets us study both the ML side and a safe user interface. Stress that the aim is learning and comparison of two models, not building a diagnostic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then the scope boundary. The out-of-scope list matters: we explicitly do not claim clinical use. The success criteria are about honesty of the evaluation, not only about the accuracy number.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the public Kaggle Brain Tumor MRI Dataset by Nickparvar, built on the figshare collection by Cheng et al. In our notebook copy the classes are exactly balanced: 1,400 training and 400 test images per class, 5,600 and 1,600 in total. Images were resized to 224 by 224. The dataset is not in the repository. We have no information on patient demographics or scanners.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notebook hashed every file. Between Training and Testing it found zero identical images, so the test score is not inflated by exact copies. But inside the Training folder there are 138 hashes with 171 extra copies. Because the validation set is cut randomly from Training, duplicates can sit on both sides of the split, so validation accuracy is optimistic. We do not know whether slices of the same patient appear in both Training and Testing, and exact hashing cannot catch near-duplicates. This is why we trust the test number rather than the validation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what happens when a user uploads an image. The backend only validates and resizes to 224 by 224; the scaling is inside each saved model (Rescaling 1/255 in the custom CNN, ResNet50 preprocess_input in a Lambda layer), so the backend deliberately does not normalise again, and a test checks this. The model returns four softmax scores; if the top score is below 0.6 the interface shows Uncertain result instead of a confident class. 0.6 is a pragmatic threshold, not a calibrated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custom CNN is the baseline: three convolution blocks trained from scratch, about 111 thousand parameters. ResNet50 uses ImageNet weights with a frozen backbone, so only the new head of 263,044 parameters is trained; no fine-tuning was done. Both used Adam, up to 15 epochs, early stopping and learning-rate reduction. Be upfront that the custom CNN training log in the notebook is truncated during epoch 8 and was unstable early on (validation accuracy between 0.25 and 0.83), so we cite no final training figure for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untouched 1,600-image test set, ResNet50 reaches 90.00% and the custom CNN 74.31%, a gap of about 15.7 percentage points. ResNet50 got 1,440 of 1,600 right. This is one run on one test set, so there is no confidence interval; a rough binomial estimate is plus or minus 1.5 points, which is our own back-of-the-envelope figure and not a notebook result. The numbers come from model_comparison_results.csv and the notebook outputs.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 metrics average the four classes equally. ResNet50 is ahead on all three. For the custom CNN, macro F1 of 70.55% is well below its accuracy of 74.31%, which tells us some classes are predicted badly; the next slide shows which. Macro recall equals accuracy only because the test classes are exactly balanced.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the true class, columns the predicted class, 400 images per row. For ResNet50 the weak spot is glioma: recall is 0.71 and 87 of 400 gliomas were called meningioma, so meningioma precision is only 0.79. For the custom CNN, meningioma recall is just 0.25; it labels most meningiomas as glioma or notumor. Both models detect notumor very reliably (recall 1.00). Confusion matrices were read from figures saved in the notebook and cross-checked: every row sums to 400 and the diagonals sum to 1,440 and 1,189. Per-class values are in ml/results/model_insights.json.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React and Vite frontend only talks to the backend through relative /api URLs, all in one file, lib/api.js. The FastAPI backend validates the upload, runs the Keras model, builds a Grad-CAM overlay, stores the result in SQLite plus files on the same machine, and can generate a PDF report. Models load lazily on the first analysis, so the API starts even without TensorFlow. Nothing is sent to a third party. The frontend also has a clearly badged demo mode with mock data for when the backend is off.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main screens while showing the live app or the screenshots. Dashboard: summary and recent analyses. New Analysis: drag and drop, choose ResNet50, custom CNN or both, optional heatmap. Results: class, confidence, four probabilities, heatmap and disclaimer. History: search, filter, delete with confirmation. Insights: the real test results. Insert real screenshots in the boxes before presenting; none were captured by the person who prepared this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Grad-CAM weights the last convolutional feature maps by the gradient of the predicted class and overlays the result. For ResNet50 it is a coarse 7 by 7 grid. It shows what influenced the score; it does not prove the model looked at the tumor, and it has not been validated against expert annotation. The uncertain state, the four probabilities, the exact disclaimer and the avoidance of reassuring wording for no tumor are there to reduce automation bias. These reduce, but do not remove, the risk. Insert real screenshots of the result page and the uncertain state.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Backend tests use pytest and FastAPI TestClient with a fake model service, so they run without TensorFlow. They cover upload validation, error codes, history, reports, the v1.1 safety fields, retention and the insights endpoint. Be honest about gaps: no test loads the real models through the API, the frontend has no tests yet (the test libraries are listed as dev dependencies but no script exists), the API key and rate limiter have no dedicated tests, and Docker has not been run. CI is defined in .github/workflows/ci.yml; its backend job needs backend/requirements-dev.txt, which still has to be added.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each person and what they actually did. Soham Sabhaya owns the ML pipeline and Mayur Chauhan the web application, as recorded in docs/TEAM.md. The other two rows are placeholders: replace them with the real names and the real contributions. Do not claim work that is not visible in the git history (git shortlog -sn shows who committed what).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plainly; they are the most credible part of the talk. Duplicates inside Training make validation optimistic, so we rely on the test set. We cannot rule out patient overlap or near-duplicates. The data is one public source, so we do not know how it performs on other scanners. Softmax scores are not calibrated. The test set is balanced, unlike real prevalence, so real-world precision would differ. One run, no confidence intervals. And above all: this is not a medical device and must not be used on patients.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slide is a plan. A fine-tuning pipeline exists in the ml folder but has never been executed, so no result is claimed for it. The first priority is a clean, duplicate-aware split, because that fixes how we measure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transfer learning clearly helped (90.00% vs 74.31% on 1,600 test images), but the weak glioma and meningioma results, the duplicates and the lack of external validation mean the system is a learning prototype only. Then open for questions. Likely questions are prepared in docs/VIVA_QA.md. References: Nickparvar 2021 (Kaggle dataset); Cheng et al. 2015 (figshare); He et al., CVPR 2016 (ResNet); Selvaraju et al., ICCV 2017 (Grad-CAM).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73152"/>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914400"/>
          </a:xfrm>
          <a:prstGeom prst="rect">
            <a:avLst/>
          </a:prstGeom>
          <a:noFill/>
        </p:spPr>
        <p:txBody>
          <a:bodyPr wrap="square" anchor="t">
            <a:spAutoFit/>
          </a:bodyPr>
          <a:lstStyle/>
          <a:p>
            <a:pPr algn="l">
              <a:spcAft>
                <a:spcPts val="600"/>
              </a:spcAft>
            </a:pPr>
            <a:r>
              <a:rPr sz="5400" b="1">
                <a:solidFill>
                  <a:srgbClr val="FFFFFF"/>
                </a:solidFill>
                <a:latin typeface="Calibri"/>
              </a:rPr>
              <a:t>BrainScan AI</a:t>
            </a:r>
          </a:p>
        </p:txBody>
      </p:sp>
      <p:sp>
        <p:nvSpPr>
          <p:cNvPr id="5" name="TextBox 4"/>
          <p:cNvSpPr txBox="1"/>
          <p:nvPr/>
        </p:nvSpPr>
        <p:spPr>
          <a:xfrm>
            <a:off x="731520" y="2514600"/>
            <a:ext cx="10515600" cy="640080"/>
          </a:xfrm>
          <a:prstGeom prst="rect">
            <a:avLst/>
          </a:prstGeom>
          <a:noFill/>
        </p:spPr>
        <p:txBody>
          <a:bodyPr wrap="square" anchor="t">
            <a:spAutoFit/>
          </a:bodyPr>
          <a:lstStyle/>
          <a:p>
            <a:pPr algn="l">
              <a:spcAft>
                <a:spcPts val="600"/>
              </a:spcAft>
            </a:pPr>
            <a:r>
              <a:rPr sz="2200" b="0">
                <a:solidFill>
                  <a:srgbClr val="FFFFFF"/>
                </a:solidFill>
                <a:latin typeface="Calibri"/>
              </a:rPr>
              <a:t>Brain tumor MRI classification with an explainable web app</a:t>
            </a:r>
          </a:p>
        </p:txBody>
      </p:sp>
      <p:sp>
        <p:nvSpPr>
          <p:cNvPr id="6" name="TextBox 5"/>
          <p:cNvSpPr txBox="1"/>
          <p:nvPr/>
        </p:nvSpPr>
        <p:spPr>
          <a:xfrm>
            <a:off x="731520" y="3566160"/>
            <a:ext cx="10515600" cy="1463040"/>
          </a:xfrm>
          <a:prstGeom prst="rect">
            <a:avLst/>
          </a:prstGeom>
          <a:noFill/>
        </p:spPr>
        <p:txBody>
          <a:bodyPr wrap="square" anchor="t">
            <a:spAutoFit/>
          </a:bodyPr>
          <a:lstStyle/>
          <a:p>
            <a:pPr algn="l">
              <a:spcAft>
                <a:spcPts val="400"/>
              </a:spcAft>
            </a:pPr>
            <a:r>
              <a:rPr sz="1800" b="0">
                <a:solidFill>
                  <a:srgbClr val="FFFFFF"/>
                </a:solidFill>
                <a:latin typeface="Calibri"/>
              </a:rPr>
              <a:t>Applied Machine Learning project, Semester 7</a:t>
            </a:r>
          </a:p>
          <a:p>
            <a:pPr algn="l">
              <a:spcAft>
                <a:spcPts val="400"/>
              </a:spcAft>
            </a:pPr>
            <a:r>
              <a:rPr sz="1800" b="0">
                <a:solidFill>
                  <a:srgbClr val="FFFFFF"/>
                </a:solidFill>
                <a:latin typeface="Calibri"/>
              </a:rPr>
              <a:t>Team: Soham Sabhaya, Mayur Chauhan, [Member 3 name], [Member 4 name]</a:t>
            </a:r>
          </a:p>
          <a:p>
            <a:pPr algn="l">
              <a:spcAft>
                <a:spcPts val="400"/>
              </a:spcAft>
            </a:pPr>
            <a:r>
              <a:rPr sz="1800" b="0">
                <a:solidFill>
                  <a:srgbClr val="FFFFFF"/>
                </a:solidFill>
                <a:latin typeface="Calibri"/>
              </a:rPr>
              <a:t>Guide / course instructor: [name to add]    Date: [presentation date]</a:t>
            </a:r>
          </a:p>
        </p:txBody>
      </p:sp>
      <p:sp>
        <p:nvSpPr>
          <p:cNvPr id="7" name="TextBox 6"/>
          <p:cNvSpPr txBox="1"/>
          <p:nvPr/>
        </p:nvSpPr>
        <p:spPr>
          <a:xfrm>
            <a:off x="731520" y="5943600"/>
            <a:ext cx="10789920" cy="457200"/>
          </a:xfrm>
          <a:prstGeom prst="rect">
            <a:avLst/>
          </a:prstGeom>
          <a:noFill/>
        </p:spPr>
        <p:txBody>
          <a:bodyPr wrap="square" anchor="t">
            <a:spAutoFit/>
          </a:bodyPr>
          <a:lstStyle/>
          <a:p>
            <a:pPr algn="l">
              <a:spcAft>
                <a:spcPts val="600"/>
              </a:spcAft>
            </a:pPr>
            <a:r>
              <a:rPr sz="1400" b="0">
                <a:solidFill>
                  <a:srgbClr val="E8A33D"/>
                </a:solidFill>
                <a:latin typeface="Calibri"/>
              </a:rPr>
              <a:t>Educational and research use only. Not a medical device and not a diagnosis.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Problem and motivation</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2</a:t>
            </a:r>
          </a:p>
        </p:txBody>
      </p:sp>
      <p:sp>
        <p:nvSpPr>
          <p:cNvPr id="7" name="TextBox 6"/>
          <p:cNvSpPr txBox="1"/>
          <p:nvPr/>
        </p:nvSpPr>
        <p:spPr>
          <a:xfrm>
            <a:off x="548640" y="1280160"/>
            <a:ext cx="6766560" cy="4937760"/>
          </a:xfrm>
          <a:prstGeom prst="rect">
            <a:avLst/>
          </a:prstGeom>
          <a:noFill/>
        </p:spPr>
        <p:txBody>
          <a:bodyPr wrap="square" anchor="t">
            <a:spAutoFit/>
          </a:bodyPr>
          <a:lstStyle/>
          <a:p>
            <a:pPr algn="l">
              <a:spcAft>
                <a:spcPts val="1000"/>
              </a:spcAft>
            </a:pPr>
            <a:r>
              <a:rPr sz="2000" b="0">
                <a:solidFill>
                  <a:srgbClr val="12263F"/>
                </a:solidFill>
                <a:latin typeface="Calibri"/>
              </a:rPr>
              <a:t>•  Task: classify one 2-D brain MRI slice into four classes: glioma, meningioma, pituitary tumor, no tumor.</a:t>
            </a:r>
          </a:p>
          <a:p>
            <a:pPr algn="l">
              <a:spcAft>
                <a:spcPts val="1000"/>
              </a:spcAft>
            </a:pPr>
            <a:r>
              <a:rPr sz="2000" b="0">
                <a:solidFill>
                  <a:srgbClr val="12263F"/>
                </a:solidFill>
                <a:latin typeface="Calibri"/>
              </a:rPr>
              <a:t>•  Supervised multi-class image classification on a public dataset.</a:t>
            </a:r>
          </a:p>
          <a:p>
            <a:pPr algn="l">
              <a:spcAft>
                <a:spcPts val="1000"/>
              </a:spcAft>
            </a:pPr>
            <a:r>
              <a:rPr sz="2000" b="0">
                <a:solidFill>
                  <a:srgbClr val="12263F"/>
                </a:solidFill>
                <a:latin typeface="Calibri"/>
              </a:rPr>
              <a:t>•  Two questions: how much does ImageNet transfer learning help over a small CNN trained from scratch, and how do we present a model result responsibly?</a:t>
            </a:r>
          </a:p>
          <a:p>
            <a:pPr algn="l">
              <a:spcAft>
                <a:spcPts val="1000"/>
              </a:spcAft>
            </a:pPr>
            <a:r>
              <a:rPr sz="2000" b="0">
                <a:solidFill>
                  <a:srgbClr val="12263F"/>
                </a:solidFill>
                <a:latin typeface="Calibri"/>
              </a:rPr>
              <a:t>•  Deliverables: trained models, an evaluation we can defend, and a web application with explanations and safety states.</a:t>
            </a:r>
          </a:p>
        </p:txBody>
      </p:sp>
      <p:sp>
        <p:nvSpPr>
          <p:cNvPr id="8" name="Rectangle 7"/>
          <p:cNvSpPr/>
          <p:nvPr/>
        </p:nvSpPr>
        <p:spPr>
          <a:xfrm>
            <a:off x="7680960" y="1371600"/>
            <a:ext cx="3931920" cy="42062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18120" y="1463040"/>
            <a:ext cx="3657600" cy="457200"/>
          </a:xfrm>
          <a:prstGeom prst="rect">
            <a:avLst/>
          </a:prstGeom>
          <a:noFill/>
        </p:spPr>
        <p:txBody>
          <a:bodyPr wrap="square" anchor="t">
            <a:spAutoFit/>
          </a:bodyPr>
          <a:lstStyle/>
          <a:p>
            <a:pPr algn="l">
              <a:spcAft>
                <a:spcPts val="600"/>
              </a:spcAft>
            </a:pPr>
            <a:r>
              <a:rPr sz="2000" b="1">
                <a:solidFill>
                  <a:srgbClr val="1B9AAA"/>
                </a:solidFill>
                <a:latin typeface="Calibri"/>
              </a:rPr>
              <a:t>Four target classes</a:t>
            </a:r>
          </a:p>
        </p:txBody>
      </p:sp>
      <p:sp>
        <p:nvSpPr>
          <p:cNvPr id="10" name="TextBox 9"/>
          <p:cNvSpPr txBox="1"/>
          <p:nvPr/>
        </p:nvSpPr>
        <p:spPr>
          <a:xfrm>
            <a:off x="7818120" y="2011680"/>
            <a:ext cx="3657600" cy="3474720"/>
          </a:xfrm>
          <a:prstGeom prst="rect">
            <a:avLst/>
          </a:prstGeom>
          <a:noFill/>
        </p:spPr>
        <p:txBody>
          <a:bodyPr wrap="square" anchor="t">
            <a:spAutoFit/>
          </a:bodyPr>
          <a:lstStyle/>
          <a:p>
            <a:pPr algn="l">
              <a:spcAft>
                <a:spcPts val="600"/>
              </a:spcAft>
            </a:pPr>
            <a:r>
              <a:rPr sz="2000" b="0">
                <a:solidFill>
                  <a:srgbClr val="12263F"/>
                </a:solidFill>
                <a:latin typeface="Calibri"/>
              </a:rPr>
              <a:t>Glioma</a:t>
            </a:r>
          </a:p>
          <a:p>
            <a:pPr algn="l">
              <a:spcAft>
                <a:spcPts val="600"/>
              </a:spcAft>
            </a:pPr>
            <a:r>
              <a:rPr sz="2000" b="0">
                <a:solidFill>
                  <a:srgbClr val="12263F"/>
                </a:solidFill>
                <a:latin typeface="Calibri"/>
              </a:rPr>
              <a:t>Meningioma</a:t>
            </a:r>
          </a:p>
          <a:p>
            <a:pPr algn="l">
              <a:spcAft>
                <a:spcPts val="600"/>
              </a:spcAft>
            </a:pPr>
            <a:r>
              <a:rPr sz="2000" b="0">
                <a:solidFill>
                  <a:srgbClr val="12263F"/>
                </a:solidFill>
                <a:latin typeface="Calibri"/>
              </a:rPr>
              <a:t>Pituitary tumor</a:t>
            </a:r>
          </a:p>
          <a:p>
            <a:pPr algn="l">
              <a:spcAft>
                <a:spcPts val="600"/>
              </a:spcAft>
            </a:pPr>
            <a:r>
              <a:rPr sz="2000" b="0">
                <a:solidFill>
                  <a:srgbClr val="12263F"/>
                </a:solidFill>
                <a:latin typeface="Calibri"/>
              </a:rPr>
              <a:t>No tumor (notumor)</a:t>
            </a:r>
          </a:p>
          <a:p>
            <a:pPr algn="l">
              <a:spcAft>
                <a:spcPts val="600"/>
              </a:spcAft>
            </a:pPr>
            <a:r>
              <a:rPr sz="2000" b="0">
                <a:solidFill>
                  <a:srgbClr val="12263F"/>
                </a:solidFill>
                <a:latin typeface="Calibri"/>
              </a:rPr>
              <a:t/>
            </a:r>
          </a:p>
          <a:p>
            <a:pPr algn="l">
              <a:spcAft>
                <a:spcPts val="600"/>
              </a:spcAft>
            </a:pPr>
            <a:r>
              <a:rPr sz="2000" b="0">
                <a:solidFill>
                  <a:srgbClr val="12263F"/>
                </a:solidFill>
                <a:latin typeface="Calibri"/>
              </a:rPr>
              <a:t>Input: 224 x 224 RGB image</a:t>
            </a:r>
          </a:p>
          <a:p>
            <a:pPr algn="l">
              <a:spcAft>
                <a:spcPts val="600"/>
              </a:spcAft>
            </a:pPr>
            <a:r>
              <a:rPr sz="2000" b="0">
                <a:solidFill>
                  <a:srgbClr val="12263F"/>
                </a:solidFill>
                <a:latin typeface="Calibri"/>
              </a:rPr>
              <a:t>Output: 4 softmax scores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Objectives and scope</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3</a:t>
            </a:r>
          </a:p>
        </p:txBody>
      </p:sp>
      <p:sp>
        <p:nvSpPr>
          <p:cNvPr id="7" name="TextBox 6"/>
          <p:cNvSpPr txBox="1"/>
          <p:nvPr/>
        </p:nvSpPr>
        <p:spPr>
          <a:xfrm>
            <a:off x="548640" y="1280160"/>
            <a:ext cx="5486400" cy="457200"/>
          </a:xfrm>
          <a:prstGeom prst="rect">
            <a:avLst/>
          </a:prstGeom>
          <a:noFill/>
        </p:spPr>
        <p:txBody>
          <a:bodyPr wrap="square" anchor="t">
            <a:spAutoFit/>
          </a:bodyPr>
          <a:lstStyle/>
          <a:p>
            <a:pPr algn="l">
              <a:spcAft>
                <a:spcPts val="600"/>
              </a:spcAft>
            </a:pPr>
            <a:r>
              <a:rPr sz="2200" b="1">
                <a:solidFill>
                  <a:srgbClr val="1B9AAA"/>
                </a:solidFill>
                <a:latin typeface="Calibri"/>
              </a:rPr>
              <a:t>Objectives</a:t>
            </a:r>
          </a:p>
        </p:txBody>
      </p:sp>
      <p:sp>
        <p:nvSpPr>
          <p:cNvPr id="8" name="TextBox 7"/>
          <p:cNvSpPr txBox="1"/>
          <p:nvPr/>
        </p:nvSpPr>
        <p:spPr>
          <a:xfrm>
            <a:off x="548640" y="1783080"/>
            <a:ext cx="5486400" cy="4389120"/>
          </a:xfrm>
          <a:prstGeom prst="rect">
            <a:avLst/>
          </a:prstGeom>
          <a:noFill/>
        </p:spPr>
        <p:txBody>
          <a:bodyPr wrap="square" anchor="t">
            <a:spAutoFit/>
          </a:bodyPr>
          <a:lstStyle/>
          <a:p>
            <a:pPr algn="l">
              <a:spcAft>
                <a:spcPts val="800"/>
              </a:spcAft>
            </a:pPr>
            <a:r>
              <a:rPr sz="1900" b="0">
                <a:solidFill>
                  <a:srgbClr val="12263F"/>
                </a:solidFill>
                <a:latin typeface="Calibri"/>
              </a:rPr>
              <a:t>•  Train and compare a custom CNN and a ResNet50 transfer model.</a:t>
            </a:r>
          </a:p>
          <a:p>
            <a:pPr algn="l">
              <a:spcAft>
                <a:spcPts val="800"/>
              </a:spcAft>
            </a:pPr>
            <a:r>
              <a:rPr sz="1900" b="0">
                <a:solidFill>
                  <a:srgbClr val="12263F"/>
                </a:solidFill>
                <a:latin typeface="Calibri"/>
              </a:rPr>
              <a:t>•  Evaluate on an untouched test set and report per-class behaviour.</a:t>
            </a:r>
          </a:p>
          <a:p>
            <a:pPr algn="l">
              <a:spcAft>
                <a:spcPts val="800"/>
              </a:spcAft>
            </a:pPr>
            <a:r>
              <a:rPr sz="1900" b="0">
                <a:solidFill>
                  <a:srgbClr val="12263F"/>
                </a:solidFill>
                <a:latin typeface="Calibri"/>
              </a:rPr>
              <a:t>•  Audit the data for problems before trusting the scores.</a:t>
            </a:r>
          </a:p>
          <a:p>
            <a:pPr algn="l">
              <a:spcAft>
                <a:spcPts val="800"/>
              </a:spcAft>
            </a:pPr>
            <a:r>
              <a:rPr sz="1900" b="0">
                <a:solidFill>
                  <a:srgbClr val="12263F"/>
                </a:solidFill>
                <a:latin typeface="Calibri"/>
              </a:rPr>
              <a:t>•  Explain predictions (Grad-CAM) and show uncertainty.</a:t>
            </a:r>
          </a:p>
          <a:p>
            <a:pPr algn="l">
              <a:spcAft>
                <a:spcPts val="800"/>
              </a:spcAft>
            </a:pPr>
            <a:r>
              <a:rPr sz="1900" b="0">
                <a:solidFill>
                  <a:srgbClr val="12263F"/>
                </a:solidFill>
                <a:latin typeface="Calibri"/>
              </a:rPr>
              <a:t>•  Wrap the models in a tested web application with history and PDF reports.</a:t>
            </a:r>
          </a:p>
        </p:txBody>
      </p:sp>
      <p:sp>
        <p:nvSpPr>
          <p:cNvPr id="9" name="TextBox 8"/>
          <p:cNvSpPr txBox="1"/>
          <p:nvPr/>
        </p:nvSpPr>
        <p:spPr>
          <a:xfrm>
            <a:off x="6309360" y="1280160"/>
            <a:ext cx="5303520" cy="457200"/>
          </a:xfrm>
          <a:prstGeom prst="rect">
            <a:avLst/>
          </a:prstGeom>
          <a:noFill/>
        </p:spPr>
        <p:txBody>
          <a:bodyPr wrap="square" anchor="t">
            <a:spAutoFit/>
          </a:bodyPr>
          <a:lstStyle/>
          <a:p>
            <a:pPr algn="l">
              <a:spcAft>
                <a:spcPts val="600"/>
              </a:spcAft>
            </a:pPr>
            <a:r>
              <a:rPr sz="2200" b="1">
                <a:solidFill>
                  <a:srgbClr val="E8A33D"/>
                </a:solidFill>
                <a:latin typeface="Calibri"/>
              </a:rPr>
              <a:t>Out of scope</a:t>
            </a:r>
          </a:p>
        </p:txBody>
      </p:sp>
      <p:sp>
        <p:nvSpPr>
          <p:cNvPr id="10" name="TextBox 9"/>
          <p:cNvSpPr txBox="1"/>
          <p:nvPr/>
        </p:nvSpPr>
        <p:spPr>
          <a:xfrm>
            <a:off x="6309360" y="1783080"/>
            <a:ext cx="5303520" cy="4389120"/>
          </a:xfrm>
          <a:prstGeom prst="rect">
            <a:avLst/>
          </a:prstGeom>
          <a:noFill/>
        </p:spPr>
        <p:txBody>
          <a:bodyPr wrap="square" anchor="t">
            <a:spAutoFit/>
          </a:bodyPr>
          <a:lstStyle/>
          <a:p>
            <a:pPr algn="l">
              <a:spcAft>
                <a:spcPts val="800"/>
              </a:spcAft>
            </a:pPr>
            <a:r>
              <a:rPr sz="1900" b="0">
                <a:solidFill>
                  <a:srgbClr val="12263F"/>
                </a:solidFill>
                <a:latin typeface="Calibri"/>
              </a:rPr>
              <a:t>•  Clinical use, screening or triage.</a:t>
            </a:r>
          </a:p>
          <a:p>
            <a:pPr algn="l">
              <a:spcAft>
                <a:spcPts val="800"/>
              </a:spcAft>
            </a:pPr>
            <a:r>
              <a:rPr sz="1900" b="0">
                <a:solidFill>
                  <a:srgbClr val="12263F"/>
                </a:solidFill>
                <a:latin typeface="Calibri"/>
              </a:rPr>
              <a:t>•  Real patient data or hospital integration.</a:t>
            </a:r>
          </a:p>
          <a:p>
            <a:pPr algn="l">
              <a:spcAft>
                <a:spcPts val="800"/>
              </a:spcAft>
            </a:pPr>
            <a:r>
              <a:rPr sz="1900" b="0">
                <a:solidFill>
                  <a:srgbClr val="12263F"/>
                </a:solidFill>
                <a:latin typeface="Calibri"/>
              </a:rPr>
              <a:t>•  External validation on other scanners (not done).</a:t>
            </a:r>
          </a:p>
          <a:p>
            <a:pPr algn="l">
              <a:spcAft>
                <a:spcPts val="800"/>
              </a:spcAft>
            </a:pPr>
            <a:r>
              <a:rPr sz="1900" b="0">
                <a:solidFill>
                  <a:srgbClr val="12263F"/>
                </a:solidFill>
                <a:latin typeface="Calibri"/>
              </a:rPr>
              <a:t>•  Any claim of diagnostic performance.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Dataset: Kaggle Brain Tumor MRI</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4</a:t>
            </a:r>
          </a:p>
        </p:txBody>
      </p:sp>
      <p:pic>
        <p:nvPicPr>
          <p:cNvPr id="7" name="Picture 6" descr="chart_dataset.png"/>
          <p:cNvPicPr>
            <a:picLocks noChangeAspect="1"/>
          </p:cNvPicPr>
          <p:nvPr/>
        </p:nvPicPr>
        <p:blipFill>
          <a:blip r:embed="rId3"/>
          <a:stretch>
            <a:fillRect/>
          </a:stretch>
        </p:blipFill>
        <p:spPr>
          <a:xfrm>
            <a:off x="457200" y="1289304"/>
            <a:ext cx="6675119" cy="4005072"/>
          </a:xfrm>
          <a:prstGeom prst="rect">
            <a:avLst/>
          </a:prstGeom>
        </p:spPr>
      </p:pic>
      <p:sp>
        <p:nvSpPr>
          <p:cNvPr id="8" name="TextBox 7"/>
          <p:cNvSpPr txBox="1"/>
          <p:nvPr/>
        </p:nvSpPr>
        <p:spPr>
          <a:xfrm>
            <a:off x="7406640" y="1371600"/>
            <a:ext cx="4389120" cy="4389120"/>
          </a:xfrm>
          <a:prstGeom prst="rect">
            <a:avLst/>
          </a:prstGeom>
          <a:noFill/>
        </p:spPr>
        <p:txBody>
          <a:bodyPr wrap="square" anchor="t">
            <a:spAutoFit/>
          </a:bodyPr>
          <a:lstStyle/>
          <a:p>
            <a:pPr algn="l">
              <a:spcAft>
                <a:spcPts val="800"/>
              </a:spcAft>
            </a:pPr>
            <a:r>
              <a:rPr sz="1800" b="0">
                <a:solidFill>
                  <a:srgbClr val="12263F"/>
                </a:solidFill>
                <a:latin typeface="Calibri"/>
              </a:rPr>
              <a:t>•  Training: 5,600 images (1,400 per class)</a:t>
            </a:r>
          </a:p>
          <a:p>
            <a:pPr algn="l">
              <a:spcAft>
                <a:spcPts val="800"/>
              </a:spcAft>
            </a:pPr>
            <a:r>
              <a:rPr sz="1800" b="0">
                <a:solidFill>
                  <a:srgbClr val="12263F"/>
                </a:solidFill>
                <a:latin typeface="Calibri"/>
              </a:rPr>
              <a:t>•  Testing: 1,600 images (400 per class)</a:t>
            </a:r>
          </a:p>
          <a:p>
            <a:pPr algn="l">
              <a:spcAft>
                <a:spcPts val="800"/>
              </a:spcAft>
            </a:pPr>
            <a:r>
              <a:rPr sz="1800" b="0">
                <a:solidFill>
                  <a:srgbClr val="12263F"/>
                </a:solidFill>
                <a:latin typeface="Calibri"/>
              </a:rPr>
              <a:t>•  Validation: 1,120 images carved from Training (80/20 split, 4,480 for fitting)</a:t>
            </a:r>
          </a:p>
          <a:p>
            <a:pPr algn="l">
              <a:spcAft>
                <a:spcPts val="800"/>
              </a:spcAft>
            </a:pPr>
            <a:r>
              <a:rPr sz="1800" b="0">
                <a:solidFill>
                  <a:srgbClr val="12263F"/>
                </a:solidFill>
                <a:latin typeface="Calibri"/>
              </a:rPr>
              <a:t>•  224 x 224 RGB input</a:t>
            </a:r>
          </a:p>
          <a:p>
            <a:pPr algn="l">
              <a:spcAft>
                <a:spcPts val="800"/>
              </a:spcAft>
            </a:pPr>
            <a:r>
              <a:rPr sz="1800" b="0">
                <a:solidFill>
                  <a:srgbClr val="12263F"/>
                </a:solidFill>
                <a:latin typeface="Calibri"/>
              </a:rPr>
              <a:t>•  0 unreadable files</a:t>
            </a:r>
          </a:p>
        </p:txBody>
      </p:sp>
      <p:sp>
        <p:nvSpPr>
          <p:cNvPr id="9" name="TextBox 8"/>
          <p:cNvSpPr txBox="1"/>
          <p:nvPr/>
        </p:nvSpPr>
        <p:spPr>
          <a:xfrm>
            <a:off x="548640" y="5577840"/>
            <a:ext cx="10972800" cy="731520"/>
          </a:xfrm>
          <a:prstGeom prst="rect">
            <a:avLst/>
          </a:prstGeom>
          <a:noFill/>
        </p:spPr>
        <p:txBody>
          <a:bodyPr wrap="square" anchor="t">
            <a:spAutoFit/>
          </a:bodyPr>
          <a:lstStyle/>
          <a:p>
            <a:pPr algn="l">
              <a:spcAft>
                <a:spcPts val="600"/>
              </a:spcAft>
            </a:pPr>
            <a:r>
              <a:rPr sz="1300" b="0">
                <a:solidFill>
                  <a:srgbClr val="5A6778"/>
                </a:solidFill>
                <a:latin typeface="Calibri"/>
              </a:rPr>
              <a:t>Source: Nickparvar (2021), Kaggle, built on Cheng et al. (2015), figshare. Counts from the notebook audit.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Data audit: what the notebook found</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5</a:t>
            </a:r>
          </a:p>
        </p:txBody>
      </p:sp>
      <p:sp>
        <p:nvSpPr>
          <p:cNvPr id="7" name="Rectangle 6"/>
          <p:cNvSpPr/>
          <p:nvPr/>
        </p:nvSpPr>
        <p:spPr>
          <a:xfrm>
            <a:off x="548640" y="1371600"/>
            <a:ext cx="3566160" cy="21031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3383280" cy="822960"/>
          </a:xfrm>
          <a:prstGeom prst="rect">
            <a:avLst/>
          </a:prstGeom>
          <a:noFill/>
        </p:spPr>
        <p:txBody>
          <a:bodyPr wrap="square" anchor="t">
            <a:spAutoFit/>
          </a:bodyPr>
          <a:lstStyle/>
          <a:p>
            <a:pPr algn="ctr">
              <a:spcAft>
                <a:spcPts val="600"/>
              </a:spcAft>
            </a:pPr>
            <a:r>
              <a:rPr sz="4800" b="1">
                <a:solidFill>
                  <a:srgbClr val="1B9AAA"/>
                </a:solidFill>
                <a:latin typeface="Calibri"/>
              </a:rPr>
              <a:t>0</a:t>
            </a:r>
          </a:p>
        </p:txBody>
      </p:sp>
      <p:sp>
        <p:nvSpPr>
          <p:cNvPr id="9" name="TextBox 8"/>
          <p:cNvSpPr txBox="1"/>
          <p:nvPr/>
        </p:nvSpPr>
        <p:spPr>
          <a:xfrm>
            <a:off x="640080" y="2377440"/>
            <a:ext cx="3383280" cy="1005840"/>
          </a:xfrm>
          <a:prstGeom prst="rect">
            <a:avLst/>
          </a:prstGeom>
          <a:noFill/>
        </p:spPr>
        <p:txBody>
          <a:bodyPr wrap="square" anchor="t">
            <a:spAutoFit/>
          </a:bodyPr>
          <a:lstStyle/>
          <a:p>
            <a:pPr algn="ctr">
              <a:spcAft>
                <a:spcPts val="600"/>
              </a:spcAft>
            </a:pPr>
            <a:r>
              <a:rPr sz="1500" b="0">
                <a:solidFill>
                  <a:srgbClr val="12263F"/>
                </a:solidFill>
                <a:latin typeface="Calibri"/>
              </a:rPr>
              <a:t>identical images shared between Training and Testing</a:t>
            </a:r>
          </a:p>
        </p:txBody>
      </p:sp>
      <p:sp>
        <p:nvSpPr>
          <p:cNvPr id="10" name="Rectangle 9"/>
          <p:cNvSpPr/>
          <p:nvPr/>
        </p:nvSpPr>
        <p:spPr>
          <a:xfrm>
            <a:off x="4297680" y="1371600"/>
            <a:ext cx="3566160" cy="21031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463040"/>
            <a:ext cx="3383280" cy="822960"/>
          </a:xfrm>
          <a:prstGeom prst="rect">
            <a:avLst/>
          </a:prstGeom>
          <a:noFill/>
        </p:spPr>
        <p:txBody>
          <a:bodyPr wrap="square" anchor="t">
            <a:spAutoFit/>
          </a:bodyPr>
          <a:lstStyle/>
          <a:p>
            <a:pPr algn="ctr">
              <a:spcAft>
                <a:spcPts val="600"/>
              </a:spcAft>
            </a:pPr>
            <a:r>
              <a:rPr sz="4800" b="1">
                <a:solidFill>
                  <a:srgbClr val="E8A33D"/>
                </a:solidFill>
                <a:latin typeface="Calibri"/>
              </a:rPr>
              <a:t>138</a:t>
            </a:r>
          </a:p>
        </p:txBody>
      </p:sp>
      <p:sp>
        <p:nvSpPr>
          <p:cNvPr id="12" name="TextBox 11"/>
          <p:cNvSpPr txBox="1"/>
          <p:nvPr/>
        </p:nvSpPr>
        <p:spPr>
          <a:xfrm>
            <a:off x="4389120" y="2377440"/>
            <a:ext cx="3383280" cy="1005840"/>
          </a:xfrm>
          <a:prstGeom prst="rect">
            <a:avLst/>
          </a:prstGeom>
          <a:noFill/>
        </p:spPr>
        <p:txBody>
          <a:bodyPr wrap="square" anchor="t">
            <a:spAutoFit/>
          </a:bodyPr>
          <a:lstStyle/>
          <a:p>
            <a:pPr algn="ctr">
              <a:spcAft>
                <a:spcPts val="600"/>
              </a:spcAft>
            </a:pPr>
            <a:r>
              <a:rPr sz="1500" b="0">
                <a:solidFill>
                  <a:srgbClr val="12263F"/>
                </a:solidFill>
                <a:latin typeface="Calibri"/>
              </a:rPr>
              <a:t>duplicate hashes inside Training (171 extra copies)</a:t>
            </a:r>
          </a:p>
        </p:txBody>
      </p:sp>
      <p:sp>
        <p:nvSpPr>
          <p:cNvPr id="13" name="Rectangle 12"/>
          <p:cNvSpPr/>
          <p:nvPr/>
        </p:nvSpPr>
        <p:spPr>
          <a:xfrm>
            <a:off x="8046720" y="1371600"/>
            <a:ext cx="3566160" cy="21031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463040"/>
            <a:ext cx="3383280" cy="822960"/>
          </a:xfrm>
          <a:prstGeom prst="rect">
            <a:avLst/>
          </a:prstGeom>
          <a:noFill/>
        </p:spPr>
        <p:txBody>
          <a:bodyPr wrap="square" anchor="t">
            <a:spAutoFit/>
          </a:bodyPr>
          <a:lstStyle/>
          <a:p>
            <a:pPr algn="ctr">
              <a:spcAft>
                <a:spcPts val="600"/>
              </a:spcAft>
            </a:pPr>
            <a:r>
              <a:rPr sz="4800" b="1">
                <a:solidFill>
                  <a:srgbClr val="1B9AAA"/>
                </a:solidFill>
                <a:latin typeface="Calibri"/>
              </a:rPr>
              <a:t>0</a:t>
            </a:r>
          </a:p>
        </p:txBody>
      </p:sp>
      <p:sp>
        <p:nvSpPr>
          <p:cNvPr id="15" name="TextBox 14"/>
          <p:cNvSpPr txBox="1"/>
          <p:nvPr/>
        </p:nvSpPr>
        <p:spPr>
          <a:xfrm>
            <a:off x="8138160" y="2377440"/>
            <a:ext cx="3383280" cy="1005840"/>
          </a:xfrm>
          <a:prstGeom prst="rect">
            <a:avLst/>
          </a:prstGeom>
          <a:noFill/>
        </p:spPr>
        <p:txBody>
          <a:bodyPr wrap="square" anchor="t">
            <a:spAutoFit/>
          </a:bodyPr>
          <a:lstStyle/>
          <a:p>
            <a:pPr algn="ctr">
              <a:spcAft>
                <a:spcPts val="600"/>
              </a:spcAft>
            </a:pPr>
            <a:r>
              <a:rPr sz="1500" b="0">
                <a:solidFill>
                  <a:srgbClr val="12263F"/>
                </a:solidFill>
                <a:latin typeface="Calibri"/>
              </a:rPr>
              <a:t>unreadable files in Training or Testing</a:t>
            </a:r>
          </a:p>
        </p:txBody>
      </p:sp>
      <p:sp>
        <p:nvSpPr>
          <p:cNvPr id="16" name="TextBox 15"/>
          <p:cNvSpPr txBox="1"/>
          <p:nvPr/>
        </p:nvSpPr>
        <p:spPr>
          <a:xfrm>
            <a:off x="548640" y="3749039"/>
            <a:ext cx="11064240" cy="2560320"/>
          </a:xfrm>
          <a:prstGeom prst="rect">
            <a:avLst/>
          </a:prstGeom>
          <a:noFill/>
        </p:spPr>
        <p:txBody>
          <a:bodyPr wrap="square" anchor="t">
            <a:spAutoFit/>
          </a:bodyPr>
          <a:lstStyle/>
          <a:p>
            <a:pPr algn="l">
              <a:spcAft>
                <a:spcPts val="800"/>
              </a:spcAft>
            </a:pPr>
            <a:r>
              <a:rPr sz="1800" b="0">
                <a:solidFill>
                  <a:srgbClr val="12263F"/>
                </a:solidFill>
                <a:latin typeface="Calibri"/>
              </a:rPr>
              <a:t>•  Consequence: validation accuracy (95.80% for ResNet50 at epoch 15) is optimistic. The test figure is the honest one.</a:t>
            </a:r>
          </a:p>
          <a:p>
            <a:pPr algn="l">
              <a:spcAft>
                <a:spcPts val="800"/>
              </a:spcAft>
            </a:pPr>
            <a:r>
              <a:rPr sz="1800" b="0">
                <a:solidFill>
                  <a:srgbClr val="12263F"/>
                </a:solidFill>
                <a:latin typeface="Calibri"/>
              </a:rPr>
              <a:t>•  Unknown: patient-level overlap between Training and Testing; near-duplicate slices (exact hashing cannot see them).</a:t>
            </a:r>
          </a:p>
          <a:p>
            <a:pPr algn="l">
              <a:spcAft>
                <a:spcPts val="800"/>
              </a:spcAft>
            </a:pPr>
            <a:r>
              <a:rPr sz="1800" b="0">
                <a:solidFill>
                  <a:srgbClr val="12263F"/>
                </a:solidFill>
                <a:latin typeface="Calibri"/>
              </a:rPr>
              <a:t>•  Planned, not done: de-duplicate, re-split, retrain (pipeline written in ml/, never executed).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From upload to result: the inference pipeline</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6</a:t>
            </a:r>
          </a:p>
        </p:txBody>
      </p:sp>
      <p:pic>
        <p:nvPicPr>
          <p:cNvPr id="7" name="Picture 6" descr="diagram_pipeline.png"/>
          <p:cNvPicPr>
            <a:picLocks noChangeAspect="1"/>
          </p:cNvPicPr>
          <p:nvPr/>
        </p:nvPicPr>
        <p:blipFill>
          <a:blip r:embed="rId3"/>
          <a:stretch>
            <a:fillRect/>
          </a:stretch>
        </p:blipFill>
        <p:spPr>
          <a:xfrm>
            <a:off x="831983" y="1280160"/>
            <a:ext cx="10497552" cy="3200400"/>
          </a:xfrm>
          <a:prstGeom prst="rect">
            <a:avLst/>
          </a:prstGeom>
        </p:spPr>
      </p:pic>
      <p:sp>
        <p:nvSpPr>
          <p:cNvPr id="8" name="TextBox 7"/>
          <p:cNvSpPr txBox="1"/>
          <p:nvPr/>
        </p:nvSpPr>
        <p:spPr>
          <a:xfrm>
            <a:off x="548640" y="4572000"/>
            <a:ext cx="11064240" cy="1737360"/>
          </a:xfrm>
          <a:prstGeom prst="rect">
            <a:avLst/>
          </a:prstGeom>
          <a:noFill/>
        </p:spPr>
        <p:txBody>
          <a:bodyPr wrap="square" anchor="t">
            <a:spAutoFit/>
          </a:bodyPr>
          <a:lstStyle/>
          <a:p>
            <a:pPr algn="l">
              <a:spcAft>
                <a:spcPts val="600"/>
              </a:spcAft>
            </a:pPr>
            <a:r>
              <a:rPr sz="1700" b="0">
                <a:solidFill>
                  <a:srgbClr val="12263F"/>
                </a:solidFill>
                <a:latin typeface="Calibri"/>
              </a:rPr>
              <a:t>•  Validation: extension, size, and a real PNG or JPEG decode (a renamed text file is rejected).</a:t>
            </a:r>
          </a:p>
          <a:p>
            <a:pPr algn="l">
              <a:spcAft>
                <a:spcPts val="600"/>
              </a:spcAft>
            </a:pPr>
            <a:r>
              <a:rPr sz="1700" b="0">
                <a:solidFill>
                  <a:srgbClr val="12263F"/>
                </a:solidFill>
                <a:latin typeface="Calibri"/>
              </a:rPr>
              <a:t>•  Models embed their own scaling, so raw 0-255 pixels go in (no double normalisation).</a:t>
            </a:r>
          </a:p>
          <a:p>
            <a:pPr algn="l">
              <a:spcAft>
                <a:spcPts val="600"/>
              </a:spcAft>
            </a:pPr>
            <a:r>
              <a:rPr sz="1700" b="0">
                <a:solidFill>
                  <a:srgbClr val="12263F"/>
                </a:solidFill>
                <a:latin typeface="Calibri"/>
              </a:rPr>
              <a:t>•  Confidence is a softmax score, not a probability of being right.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Two models compared</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7</a:t>
            </a:r>
          </a:p>
        </p:txBody>
      </p:sp>
      <p:graphicFrame>
        <p:nvGraphicFramePr>
          <p:cNvPr id="7" name="Table 6"/>
          <p:cNvGraphicFramePr>
            <a:graphicFrameLocks noGrp="1"/>
          </p:cNvGraphicFramePr>
          <p:nvPr/>
        </p:nvGraphicFramePr>
        <p:xfrm>
          <a:off x="548640" y="1371600"/>
          <a:ext cx="11064240" cy="4206237"/>
        </p:xfrm>
        <a:graphic>
          <a:graphicData uri="http://schemas.openxmlformats.org/drawingml/2006/table">
            <a:tbl>
              <a:tblPr firstRow="1" bandRow="1">
                <a:tableStyleId>{5C22544A-7EE6-4342-B048-85BDC9FD1C3A}</a:tableStyleId>
              </a:tblPr>
              <a:tblGrid>
                <a:gridCol w="2377440"/>
                <a:gridCol w="4343400"/>
                <a:gridCol w="4343400"/>
              </a:tblGrid>
              <a:tr h="600891">
                <a:tc>
                  <a:txBody>
                    <a:bodyPr/>
                    <a:lstStyle/>
                    <a:p>
                      <a:pPr algn="l"/>
                    </a:p>
                  </a:txBody>
                  <a:tcPr marL="54864" marR="54864" marT="27432" marB="27432" anchor="ctr">
                    <a:solidFill>
                      <a:srgbClr val="12263F"/>
                    </a:solidFill>
                  </a:tcPr>
                </a:tc>
                <a:tc>
                  <a:txBody>
                    <a:bodyPr/>
                    <a:lstStyle/>
                    <a:p>
                      <a:pPr algn="ctr"/>
                      <a:r>
                        <a:rPr sz="1500" b="1">
                          <a:solidFill>
                            <a:srgbClr val="FFFFFF"/>
                          </a:solidFill>
                          <a:latin typeface="Calibri"/>
                        </a:rPr>
                        <a:t>Custom CNN (baseline)</a:t>
                      </a:r>
                    </a:p>
                  </a:txBody>
                  <a:tcPr marL="54864" marR="54864" marT="27432" marB="27432" anchor="ctr">
                    <a:solidFill>
                      <a:srgbClr val="12263F"/>
                    </a:solidFill>
                  </a:tcPr>
                </a:tc>
                <a:tc>
                  <a:txBody>
                    <a:bodyPr/>
                    <a:lstStyle/>
                    <a:p>
                      <a:pPr algn="ctr"/>
                      <a:r>
                        <a:rPr sz="1500" b="1">
                          <a:solidFill>
                            <a:srgbClr val="FFFFFF"/>
                          </a:solidFill>
                          <a:latin typeface="Calibri"/>
                        </a:rPr>
                        <a:t>ResNet50 transfer</a:t>
                      </a:r>
                    </a:p>
                  </a:txBody>
                  <a:tcPr marL="54864" marR="54864" marT="27432" marB="27432" anchor="ctr">
                    <a:solidFill>
                      <a:srgbClr val="12263F"/>
                    </a:solidFill>
                  </a:tcPr>
                </a:tc>
              </a:tr>
              <a:tr h="600891">
                <a:tc>
                  <a:txBody>
                    <a:bodyPr/>
                    <a:lstStyle/>
                    <a:p>
                      <a:pPr algn="l"/>
                      <a:r>
                        <a:rPr sz="1500" b="1">
                          <a:solidFill>
                            <a:srgbClr val="12263F"/>
                          </a:solidFill>
                          <a:latin typeface="Calibri"/>
                        </a:rPr>
                        <a:t>Structure</a:t>
                      </a:r>
                    </a:p>
                  </a:txBody>
                  <a:tcPr marL="54864" marR="54864" marT="27432" marB="27432" anchor="ctr">
                    <a:solidFill>
                      <a:srgbClr val="EEF3F7"/>
                    </a:solidFill>
                  </a:tcPr>
                </a:tc>
                <a:tc>
                  <a:txBody>
                    <a:bodyPr/>
                    <a:lstStyle/>
                    <a:p>
                      <a:pPr algn="ctr"/>
                      <a:r>
                        <a:rPr sz="1500" b="0">
                          <a:solidFill>
                            <a:srgbClr val="12263F"/>
                          </a:solidFill>
                          <a:latin typeface="Calibri"/>
                        </a:rPr>
                        <a:t>3 conv blocks (32/64/128), BatchNorm, pooling, Dense 128, Dropout 0.4</a:t>
                      </a:r>
                    </a:p>
                  </a:txBody>
                  <a:tcPr marL="54864" marR="54864" marT="27432" marB="27432" anchor="ctr">
                    <a:solidFill>
                      <a:srgbClr val="EEF3F7"/>
                    </a:solidFill>
                  </a:tcPr>
                </a:tc>
                <a:tc>
                  <a:txBody>
                    <a:bodyPr/>
                    <a:lstStyle/>
                    <a:p>
                      <a:pPr algn="ctr"/>
                      <a:r>
                        <a:rPr sz="1500" b="0">
                          <a:solidFill>
                            <a:srgbClr val="12263F"/>
                          </a:solidFill>
                          <a:latin typeface="Calibri"/>
                        </a:rPr>
                        <a:t>ImageNet ResNet50, frozen; pooling, Dense 128, BatchNorm, Dropout 0.4</a:t>
                      </a:r>
                    </a:p>
                  </a:txBody>
                  <a:tcPr marL="54864" marR="54864" marT="27432" marB="27432" anchor="ctr">
                    <a:solidFill>
                      <a:srgbClr val="EEF3F7"/>
                    </a:solidFill>
                  </a:tcPr>
                </a:tc>
              </a:tr>
              <a:tr h="600891">
                <a:tc>
                  <a:txBody>
                    <a:bodyPr/>
                    <a:lstStyle/>
                    <a:p>
                      <a:pPr algn="l"/>
                      <a:r>
                        <a:rPr sz="1500" b="1">
                          <a:solidFill>
                            <a:srgbClr val="12263F"/>
                          </a:solidFill>
                          <a:latin typeface="Calibri"/>
                        </a:rPr>
                        <a:t>Total parameters</a:t>
                      </a:r>
                    </a:p>
                  </a:txBody>
                  <a:tcPr marL="54864" marR="54864" marT="27432" marB="27432" anchor="ctr">
                    <a:solidFill>
                      <a:srgbClr val="FFFFFF"/>
                    </a:solidFill>
                  </a:tcPr>
                </a:tc>
                <a:tc>
                  <a:txBody>
                    <a:bodyPr/>
                    <a:lstStyle/>
                    <a:p>
                      <a:pPr algn="ctr"/>
                      <a:r>
                        <a:rPr sz="1500" b="0">
                          <a:solidFill>
                            <a:srgbClr val="12263F"/>
                          </a:solidFill>
                          <a:latin typeface="Calibri"/>
                        </a:rPr>
                        <a:t>111,172</a:t>
                      </a:r>
                    </a:p>
                  </a:txBody>
                  <a:tcPr marL="54864" marR="54864" marT="27432" marB="27432" anchor="ctr">
                    <a:solidFill>
                      <a:srgbClr val="FFFFFF"/>
                    </a:solidFill>
                  </a:tcPr>
                </a:tc>
                <a:tc>
                  <a:txBody>
                    <a:bodyPr/>
                    <a:lstStyle/>
                    <a:p>
                      <a:pPr algn="ctr"/>
                      <a:r>
                        <a:rPr sz="1500" b="0">
                          <a:solidFill>
                            <a:srgbClr val="12263F"/>
                          </a:solidFill>
                          <a:latin typeface="Calibri"/>
                        </a:rPr>
                        <a:t>23,851,012</a:t>
                      </a:r>
                    </a:p>
                  </a:txBody>
                  <a:tcPr marL="54864" marR="54864" marT="27432" marB="27432" anchor="ctr">
                    <a:solidFill>
                      <a:srgbClr val="FFFFFF"/>
                    </a:solidFill>
                  </a:tcPr>
                </a:tc>
              </a:tr>
              <a:tr h="600891">
                <a:tc>
                  <a:txBody>
                    <a:bodyPr/>
                    <a:lstStyle/>
                    <a:p>
                      <a:pPr algn="l"/>
                      <a:r>
                        <a:rPr sz="1500" b="1">
                          <a:solidFill>
                            <a:srgbClr val="12263F"/>
                          </a:solidFill>
                          <a:latin typeface="Calibri"/>
                        </a:rPr>
                        <a:t>Trainable parameters</a:t>
                      </a:r>
                    </a:p>
                  </a:txBody>
                  <a:tcPr marL="54864" marR="54864" marT="27432" marB="27432" anchor="ctr">
                    <a:solidFill>
                      <a:srgbClr val="EEF3F7"/>
                    </a:solidFill>
                  </a:tcPr>
                </a:tc>
                <a:tc>
                  <a:txBody>
                    <a:bodyPr/>
                    <a:lstStyle/>
                    <a:p>
                      <a:pPr algn="ctr"/>
                      <a:r>
                        <a:rPr sz="1500" b="0">
                          <a:solidFill>
                            <a:srgbClr val="12263F"/>
                          </a:solidFill>
                          <a:latin typeface="Calibri"/>
                        </a:rPr>
                        <a:t>110,724</a:t>
                      </a:r>
                    </a:p>
                  </a:txBody>
                  <a:tcPr marL="54864" marR="54864" marT="27432" marB="27432" anchor="ctr">
                    <a:solidFill>
                      <a:srgbClr val="EEF3F7"/>
                    </a:solidFill>
                  </a:tcPr>
                </a:tc>
                <a:tc>
                  <a:txBody>
                    <a:bodyPr/>
                    <a:lstStyle/>
                    <a:p>
                      <a:pPr algn="ctr"/>
                      <a:r>
                        <a:rPr sz="1500" b="0">
                          <a:solidFill>
                            <a:srgbClr val="12263F"/>
                          </a:solidFill>
                          <a:latin typeface="Calibri"/>
                        </a:rPr>
                        <a:t>263,044</a:t>
                      </a:r>
                    </a:p>
                  </a:txBody>
                  <a:tcPr marL="54864" marR="54864" marT="27432" marB="27432" anchor="ctr">
                    <a:solidFill>
                      <a:srgbClr val="EEF3F7"/>
                    </a:solidFill>
                  </a:tcPr>
                </a:tc>
              </a:tr>
              <a:tr h="600891">
                <a:tc>
                  <a:txBody>
                    <a:bodyPr/>
                    <a:lstStyle/>
                    <a:p>
                      <a:pPr algn="l"/>
                      <a:r>
                        <a:rPr sz="1500" b="1">
                          <a:solidFill>
                            <a:srgbClr val="12263F"/>
                          </a:solidFill>
                          <a:latin typeface="Calibri"/>
                        </a:rPr>
                        <a:t>Optimizer</a:t>
                      </a:r>
                    </a:p>
                  </a:txBody>
                  <a:tcPr marL="54864" marR="54864" marT="27432" marB="27432" anchor="ctr">
                    <a:solidFill>
                      <a:srgbClr val="FFFFFF"/>
                    </a:solidFill>
                  </a:tcPr>
                </a:tc>
                <a:tc>
                  <a:txBody>
                    <a:bodyPr/>
                    <a:lstStyle/>
                    <a:p>
                      <a:pPr algn="ctr"/>
                      <a:r>
                        <a:rPr sz="1500" b="0">
                          <a:solidFill>
                            <a:srgbClr val="12263F"/>
                          </a:solidFill>
                          <a:latin typeface="Calibri"/>
                        </a:rPr>
                        <a:t>Adam, lr 1e-3</a:t>
                      </a:r>
                    </a:p>
                  </a:txBody>
                  <a:tcPr marL="54864" marR="54864" marT="27432" marB="27432" anchor="ctr">
                    <a:solidFill>
                      <a:srgbClr val="FFFFFF"/>
                    </a:solidFill>
                  </a:tcPr>
                </a:tc>
                <a:tc>
                  <a:txBody>
                    <a:bodyPr/>
                    <a:lstStyle/>
                    <a:p>
                      <a:pPr algn="ctr"/>
                      <a:r>
                        <a:rPr sz="1500" b="0">
                          <a:solidFill>
                            <a:srgbClr val="12263F"/>
                          </a:solidFill>
                          <a:latin typeface="Calibri"/>
                        </a:rPr>
                        <a:t>Adam, lr 1e-4</a:t>
                      </a:r>
                    </a:p>
                  </a:txBody>
                  <a:tcPr marL="54864" marR="54864" marT="27432" marB="27432" anchor="ctr">
                    <a:solidFill>
                      <a:srgbClr val="FFFFFF"/>
                    </a:solidFill>
                  </a:tcPr>
                </a:tc>
              </a:tr>
              <a:tr h="600891">
                <a:tc>
                  <a:txBody>
                    <a:bodyPr/>
                    <a:lstStyle/>
                    <a:p>
                      <a:pPr algn="l"/>
                      <a:r>
                        <a:rPr sz="1500" b="1">
                          <a:solidFill>
                            <a:srgbClr val="12263F"/>
                          </a:solidFill>
                          <a:latin typeface="Calibri"/>
                        </a:rPr>
                        <a:t>Training data</a:t>
                      </a:r>
                    </a:p>
                  </a:txBody>
                  <a:tcPr marL="54864" marR="54864" marT="27432" marB="27432" anchor="ctr">
                    <a:solidFill>
                      <a:srgbClr val="EEF3F7"/>
                    </a:solidFill>
                  </a:tcPr>
                </a:tc>
                <a:tc>
                  <a:txBody>
                    <a:bodyPr/>
                    <a:lstStyle/>
                    <a:p>
                      <a:pPr algn="ctr"/>
                      <a:r>
                        <a:rPr sz="1500" b="0">
                          <a:solidFill>
                            <a:srgbClr val="12263F"/>
                          </a:solidFill>
                          <a:latin typeface="Calibri"/>
                        </a:rPr>
                        <a:t>4,480 images (80% of Training)</a:t>
                      </a:r>
                    </a:p>
                  </a:txBody>
                  <a:tcPr marL="54864" marR="54864" marT="27432" marB="27432" anchor="ctr">
                    <a:solidFill>
                      <a:srgbClr val="EEF3F7"/>
                    </a:solidFill>
                  </a:tcPr>
                </a:tc>
                <a:tc>
                  <a:txBody>
                    <a:bodyPr/>
                    <a:lstStyle/>
                    <a:p>
                      <a:pPr algn="ctr"/>
                      <a:r>
                        <a:rPr sz="1500" b="0">
                          <a:solidFill>
                            <a:srgbClr val="12263F"/>
                          </a:solidFill>
                          <a:latin typeface="Calibri"/>
                        </a:rPr>
                        <a:t>4,480 images (80% of Training)</a:t>
                      </a:r>
                    </a:p>
                  </a:txBody>
                  <a:tcPr marL="54864" marR="54864" marT="27432" marB="27432" anchor="ctr">
                    <a:solidFill>
                      <a:srgbClr val="EEF3F7"/>
                    </a:solidFill>
                  </a:tcPr>
                </a:tc>
              </a:tr>
              <a:tr h="600891">
                <a:tc>
                  <a:txBody>
                    <a:bodyPr/>
                    <a:lstStyle/>
                    <a:p>
                      <a:pPr algn="l"/>
                      <a:r>
                        <a:rPr sz="1500" b="1">
                          <a:solidFill>
                            <a:srgbClr val="12263F"/>
                          </a:solidFill>
                          <a:latin typeface="Calibri"/>
                        </a:rPr>
                        <a:t>Augmentation</a:t>
                      </a:r>
                    </a:p>
                  </a:txBody>
                  <a:tcPr marL="54864" marR="54864" marT="27432" marB="27432" anchor="ctr">
                    <a:solidFill>
                      <a:srgbClr val="FFFFFF"/>
                    </a:solidFill>
                  </a:tcPr>
                </a:tc>
                <a:tc>
                  <a:txBody>
                    <a:bodyPr/>
                    <a:lstStyle/>
                    <a:p>
                      <a:pPr algn="ctr"/>
                      <a:r>
                        <a:rPr sz="1500" b="0">
                          <a:solidFill>
                            <a:srgbClr val="12263F"/>
                          </a:solidFill>
                          <a:latin typeface="Calibri"/>
                        </a:rPr>
                        <a:t>Random horizontal flip only</a:t>
                      </a:r>
                    </a:p>
                  </a:txBody>
                  <a:tcPr marL="54864" marR="54864" marT="27432" marB="27432" anchor="ctr">
                    <a:solidFill>
                      <a:srgbClr val="FFFFFF"/>
                    </a:solidFill>
                  </a:tcPr>
                </a:tc>
                <a:tc>
                  <a:txBody>
                    <a:bodyPr/>
                    <a:lstStyle/>
                    <a:p>
                      <a:pPr algn="ctr"/>
                      <a:r>
                        <a:rPr sz="1500" b="0">
                          <a:solidFill>
                            <a:srgbClr val="12263F"/>
                          </a:solidFill>
                          <a:latin typeface="Calibri"/>
                        </a:rPr>
                        <a:t>Random horizontal flip only</a:t>
                      </a:r>
                    </a:p>
                  </a:txBody>
                  <a:tcPr marL="54864" marR="54864" marT="27432" marB="27432" anchor="ctr">
                    <a:solidFill>
                      <a:srgbClr val="FFFFFF"/>
                    </a:solidFill>
                  </a:tcPr>
                </a:tc>
              </a:tr>
            </a:tbl>
          </a:graphicData>
        </a:graphic>
      </p:graphicFrame>
      <p:sp>
        <p:nvSpPr>
          <p:cNvPr id="8" name="TextBox 7"/>
          <p:cNvSpPr txBox="1"/>
          <p:nvPr/>
        </p:nvSpPr>
        <p:spPr>
          <a:xfrm>
            <a:off x="548640" y="5715000"/>
            <a:ext cx="11064240" cy="548640"/>
          </a:xfrm>
          <a:prstGeom prst="rect">
            <a:avLst/>
          </a:prstGeom>
          <a:noFill/>
        </p:spPr>
        <p:txBody>
          <a:bodyPr wrap="square" anchor="t">
            <a:spAutoFit/>
          </a:bodyPr>
          <a:lstStyle/>
          <a:p>
            <a:pPr algn="l">
              <a:spcAft>
                <a:spcPts val="600"/>
              </a:spcAft>
            </a:pPr>
            <a:r>
              <a:rPr sz="1500" b="0">
                <a:solidFill>
                  <a:srgbClr val="5A6778"/>
                </a:solidFill>
                <a:latin typeface="Calibri"/>
              </a:rPr>
              <a:t>Single run, single seed for each model. No hyper-parameter search.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Results: test accuracy</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8</a:t>
            </a:r>
          </a:p>
        </p:txBody>
      </p:sp>
      <p:pic>
        <p:nvPicPr>
          <p:cNvPr id="7" name="Picture 6" descr="chart_accuracy.png"/>
          <p:cNvPicPr>
            <a:picLocks noChangeAspect="1"/>
          </p:cNvPicPr>
          <p:nvPr/>
        </p:nvPicPr>
        <p:blipFill>
          <a:blip r:embed="rId3"/>
          <a:stretch>
            <a:fillRect/>
          </a:stretch>
        </p:blipFill>
        <p:spPr>
          <a:xfrm>
            <a:off x="457200" y="1307591"/>
            <a:ext cx="6766560" cy="4059936"/>
          </a:xfrm>
          <a:prstGeom prst="rect">
            <a:avLst/>
          </a:prstGeom>
        </p:spPr>
      </p:pic>
      <p:sp>
        <p:nvSpPr>
          <p:cNvPr id="8" name="Rectangle 7"/>
          <p:cNvSpPr/>
          <p:nvPr/>
        </p:nvSpPr>
        <p:spPr>
          <a:xfrm>
            <a:off x="7589520" y="1463040"/>
            <a:ext cx="4023360" cy="1463040"/>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0" y="1508760"/>
            <a:ext cx="3840480" cy="822960"/>
          </a:xfrm>
          <a:prstGeom prst="rect">
            <a:avLst/>
          </a:prstGeom>
          <a:noFill/>
        </p:spPr>
        <p:txBody>
          <a:bodyPr wrap="square" anchor="t">
            <a:spAutoFit/>
          </a:bodyPr>
          <a:lstStyle/>
          <a:p>
            <a:pPr algn="ctr">
              <a:spcAft>
                <a:spcPts val="600"/>
              </a:spcAft>
            </a:pPr>
            <a:r>
              <a:rPr sz="4400" b="1">
                <a:solidFill>
                  <a:srgbClr val="FFFFFF"/>
                </a:solidFill>
                <a:latin typeface="Calibri"/>
              </a:rPr>
              <a:t>90.00%</a:t>
            </a:r>
          </a:p>
        </p:txBody>
      </p:sp>
      <p:sp>
        <p:nvSpPr>
          <p:cNvPr id="10" name="TextBox 9"/>
          <p:cNvSpPr txBox="1"/>
          <p:nvPr/>
        </p:nvSpPr>
        <p:spPr>
          <a:xfrm>
            <a:off x="7680960" y="2377440"/>
            <a:ext cx="3840480" cy="457200"/>
          </a:xfrm>
          <a:prstGeom prst="rect">
            <a:avLst/>
          </a:prstGeom>
          <a:noFill/>
        </p:spPr>
        <p:txBody>
          <a:bodyPr wrap="square" anchor="t">
            <a:spAutoFit/>
          </a:bodyPr>
          <a:lstStyle/>
          <a:p>
            <a:pPr algn="ctr">
              <a:spcAft>
                <a:spcPts val="600"/>
              </a:spcAft>
            </a:pPr>
            <a:r>
              <a:rPr sz="1400" b="0">
                <a:solidFill>
                  <a:srgbClr val="FFFFFF"/>
                </a:solidFill>
                <a:latin typeface="Calibri"/>
              </a:rPr>
              <a:t>ResNet50 (1,440 / 1,600 correct)</a:t>
            </a:r>
          </a:p>
        </p:txBody>
      </p:sp>
      <p:sp>
        <p:nvSpPr>
          <p:cNvPr id="11" name="Rectangle 10"/>
          <p:cNvSpPr/>
          <p:nvPr/>
        </p:nvSpPr>
        <p:spPr>
          <a:xfrm>
            <a:off x="7589520" y="3200400"/>
            <a:ext cx="4023360" cy="146304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3246120"/>
            <a:ext cx="3840480" cy="822960"/>
          </a:xfrm>
          <a:prstGeom prst="rect">
            <a:avLst/>
          </a:prstGeom>
          <a:noFill/>
        </p:spPr>
        <p:txBody>
          <a:bodyPr wrap="square" anchor="t">
            <a:spAutoFit/>
          </a:bodyPr>
          <a:lstStyle/>
          <a:p>
            <a:pPr algn="ctr">
              <a:spcAft>
                <a:spcPts val="600"/>
              </a:spcAft>
            </a:pPr>
            <a:r>
              <a:rPr sz="4400" b="1">
                <a:solidFill>
                  <a:srgbClr val="FFFFFF"/>
                </a:solidFill>
                <a:latin typeface="Calibri"/>
              </a:rPr>
              <a:t>74.31%</a:t>
            </a:r>
          </a:p>
        </p:txBody>
      </p:sp>
      <p:sp>
        <p:nvSpPr>
          <p:cNvPr id="13" name="TextBox 12"/>
          <p:cNvSpPr txBox="1"/>
          <p:nvPr/>
        </p:nvSpPr>
        <p:spPr>
          <a:xfrm>
            <a:off x="7680960" y="4114800"/>
            <a:ext cx="3840480" cy="457200"/>
          </a:xfrm>
          <a:prstGeom prst="rect">
            <a:avLst/>
          </a:prstGeom>
          <a:noFill/>
        </p:spPr>
        <p:txBody>
          <a:bodyPr wrap="square" anchor="t">
            <a:spAutoFit/>
          </a:bodyPr>
          <a:lstStyle/>
          <a:p>
            <a:pPr algn="ctr">
              <a:spcAft>
                <a:spcPts val="600"/>
              </a:spcAft>
            </a:pPr>
            <a:r>
              <a:rPr sz="1400" b="0">
                <a:solidFill>
                  <a:srgbClr val="FFFFFF"/>
                </a:solidFill>
                <a:latin typeface="Calibri"/>
              </a:rPr>
              <a:t>Custom CNN (1,189 / 1,600 correct)</a:t>
            </a:r>
          </a:p>
        </p:txBody>
      </p:sp>
      <p:sp>
        <p:nvSpPr>
          <p:cNvPr id="14" name="TextBox 13"/>
          <p:cNvSpPr txBox="1"/>
          <p:nvPr/>
        </p:nvSpPr>
        <p:spPr>
          <a:xfrm>
            <a:off x="548640" y="5577840"/>
            <a:ext cx="11064240" cy="731520"/>
          </a:xfrm>
          <a:prstGeom prst="rect">
            <a:avLst/>
          </a:prstGeom>
          <a:noFill/>
        </p:spPr>
        <p:txBody>
          <a:bodyPr wrap="square" anchor="t">
            <a:spAutoFit/>
          </a:bodyPr>
          <a:lstStyle/>
          <a:p>
            <a:pPr algn="l">
              <a:spcAft>
                <a:spcPts val="600"/>
              </a:spcAft>
            </a:pPr>
            <a:r>
              <a:rPr sz="1500" b="0">
                <a:solidFill>
                  <a:srgbClr val="5A6778"/>
                </a:solidFill>
                <a:latin typeface="Calibri"/>
              </a:rPr>
              <a:t>Test set: 1,600 images, 400 per class. Single run; no confidence interval.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Results: macro precision, recall and F1</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9</a:t>
            </a:r>
          </a:p>
        </p:txBody>
      </p:sp>
      <p:pic>
        <p:nvPicPr>
          <p:cNvPr id="7" name="Picture 6" descr="chart_macro_metrics.png"/>
          <p:cNvPicPr>
            <a:picLocks noChangeAspect="1"/>
          </p:cNvPicPr>
          <p:nvPr/>
        </p:nvPicPr>
        <p:blipFill>
          <a:blip r:embed="rId3"/>
          <a:stretch>
            <a:fillRect/>
          </a:stretch>
        </p:blipFill>
        <p:spPr>
          <a:xfrm>
            <a:off x="365760" y="1330451"/>
            <a:ext cx="6949440" cy="3648456"/>
          </a:xfrm>
          <a:prstGeom prst="rect">
            <a:avLst/>
          </a:prstGeom>
        </p:spPr>
      </p:pic>
      <p:graphicFrame>
        <p:nvGraphicFramePr>
          <p:cNvPr id="8" name="Table 7"/>
          <p:cNvGraphicFramePr>
            <a:graphicFrameLocks noGrp="1"/>
          </p:cNvGraphicFramePr>
          <p:nvPr/>
        </p:nvGraphicFramePr>
        <p:xfrm>
          <a:off x="7498079" y="1554480"/>
          <a:ext cx="4206240" cy="2377440"/>
        </p:xfrm>
        <a:graphic>
          <a:graphicData uri="http://schemas.openxmlformats.org/drawingml/2006/table">
            <a:tbl>
              <a:tblPr firstRow="1" bandRow="1">
                <a:tableStyleId>{5C22544A-7EE6-4342-B048-85BDC9FD1C3A}</a:tableStyleId>
              </a:tblPr>
              <a:tblGrid>
                <a:gridCol w="1737360"/>
                <a:gridCol w="1234440"/>
                <a:gridCol w="1234440"/>
              </a:tblGrid>
              <a:tr h="475488">
                <a:tc>
                  <a:txBody>
                    <a:bodyPr/>
                    <a:lstStyle/>
                    <a:p>
                      <a:pPr algn="l"/>
                      <a:r>
                        <a:rPr sz="1400" b="1">
                          <a:solidFill>
                            <a:srgbClr val="FFFFFF"/>
                          </a:solidFill>
                          <a:latin typeface="Calibri"/>
                        </a:rPr>
                        <a:t>Metric (test)</a:t>
                      </a:r>
                    </a:p>
                  </a:txBody>
                  <a:tcPr marL="54864" marR="54864" marT="27432" marB="27432" anchor="ctr">
                    <a:solidFill>
                      <a:srgbClr val="12263F"/>
                    </a:solidFill>
                  </a:tcPr>
                </a:tc>
                <a:tc>
                  <a:txBody>
                    <a:bodyPr/>
                    <a:lstStyle/>
                    <a:p>
                      <a:pPr algn="ctr"/>
                      <a:r>
                        <a:rPr sz="1400" b="1">
                          <a:solidFill>
                            <a:srgbClr val="FFFFFF"/>
                          </a:solidFill>
                          <a:latin typeface="Calibri"/>
                        </a:rPr>
                        <a:t>Custom CNN</a:t>
                      </a:r>
                    </a:p>
                  </a:txBody>
                  <a:tcPr marL="54864" marR="54864" marT="27432" marB="27432" anchor="ctr">
                    <a:solidFill>
                      <a:srgbClr val="12263F"/>
                    </a:solidFill>
                  </a:tcPr>
                </a:tc>
                <a:tc>
                  <a:txBody>
                    <a:bodyPr/>
                    <a:lstStyle/>
                    <a:p>
                      <a:pPr algn="ctr"/>
                      <a:r>
                        <a:rPr sz="1400" b="1">
                          <a:solidFill>
                            <a:srgbClr val="FFFFFF"/>
                          </a:solidFill>
                          <a:latin typeface="Calibri"/>
                        </a:rPr>
                        <a:t>ResNet50</a:t>
                      </a:r>
                    </a:p>
                  </a:txBody>
                  <a:tcPr marL="54864" marR="54864" marT="27432" marB="27432" anchor="ctr">
                    <a:solidFill>
                      <a:srgbClr val="12263F"/>
                    </a:solidFill>
                  </a:tcPr>
                </a:tc>
              </a:tr>
              <a:tr h="475488">
                <a:tc>
                  <a:txBody>
                    <a:bodyPr/>
                    <a:lstStyle/>
                    <a:p>
                      <a:pPr algn="l"/>
                      <a:r>
                        <a:rPr sz="1400" b="1">
                          <a:solidFill>
                            <a:srgbClr val="12263F"/>
                          </a:solidFill>
                          <a:latin typeface="Calibri"/>
                        </a:rPr>
                        <a:t>Accuracy</a:t>
                      </a:r>
                    </a:p>
                  </a:txBody>
                  <a:tcPr marL="54864" marR="54864" marT="27432" marB="27432" anchor="ctr">
                    <a:solidFill>
                      <a:srgbClr val="EEF3F7"/>
                    </a:solidFill>
                  </a:tcPr>
                </a:tc>
                <a:tc>
                  <a:txBody>
                    <a:bodyPr/>
                    <a:lstStyle/>
                    <a:p>
                      <a:pPr algn="ctr"/>
                      <a:r>
                        <a:rPr sz="1400" b="0">
                          <a:solidFill>
                            <a:srgbClr val="12263F"/>
                          </a:solidFill>
                          <a:latin typeface="Calibri"/>
                        </a:rPr>
                        <a:t>74.31%</a:t>
                      </a:r>
                    </a:p>
                  </a:txBody>
                  <a:tcPr marL="54864" marR="54864" marT="27432" marB="27432" anchor="ctr">
                    <a:solidFill>
                      <a:srgbClr val="EEF3F7"/>
                    </a:solidFill>
                  </a:tcPr>
                </a:tc>
                <a:tc>
                  <a:txBody>
                    <a:bodyPr/>
                    <a:lstStyle/>
                    <a:p>
                      <a:pPr algn="ctr"/>
                      <a:r>
                        <a:rPr sz="1400" b="0">
                          <a:solidFill>
                            <a:srgbClr val="12263F"/>
                          </a:solidFill>
                          <a:latin typeface="Calibri"/>
                        </a:rPr>
                        <a:t>90.00%</a:t>
                      </a:r>
                    </a:p>
                  </a:txBody>
                  <a:tcPr marL="54864" marR="54864" marT="27432" marB="27432" anchor="ctr">
                    <a:solidFill>
                      <a:srgbClr val="EEF3F7"/>
                    </a:solidFill>
                  </a:tcPr>
                </a:tc>
              </a:tr>
              <a:tr h="475488">
                <a:tc>
                  <a:txBody>
                    <a:bodyPr/>
                    <a:lstStyle/>
                    <a:p>
                      <a:pPr algn="l"/>
                      <a:r>
                        <a:rPr sz="1400" b="1">
                          <a:solidFill>
                            <a:srgbClr val="12263F"/>
                          </a:solidFill>
                          <a:latin typeface="Calibri"/>
                        </a:rPr>
                        <a:t>Macro precision</a:t>
                      </a:r>
                    </a:p>
                  </a:txBody>
                  <a:tcPr marL="54864" marR="54864" marT="27432" marB="27432" anchor="ctr">
                    <a:solidFill>
                      <a:srgbClr val="FFFFFF"/>
                    </a:solidFill>
                  </a:tcPr>
                </a:tc>
                <a:tc>
                  <a:txBody>
                    <a:bodyPr/>
                    <a:lstStyle/>
                    <a:p>
                      <a:pPr algn="ctr"/>
                      <a:r>
                        <a:rPr sz="1400" b="0">
                          <a:solidFill>
                            <a:srgbClr val="12263F"/>
                          </a:solidFill>
                          <a:latin typeface="Calibri"/>
                        </a:rPr>
                        <a:t>75.81%</a:t>
                      </a:r>
                    </a:p>
                  </a:txBody>
                  <a:tcPr marL="54864" marR="54864" marT="27432" marB="27432" anchor="ctr">
                    <a:solidFill>
                      <a:srgbClr val="FFFFFF"/>
                    </a:solidFill>
                  </a:tcPr>
                </a:tc>
                <a:tc>
                  <a:txBody>
                    <a:bodyPr/>
                    <a:lstStyle/>
                    <a:p>
                      <a:pPr algn="ctr"/>
                      <a:r>
                        <a:rPr sz="1400" b="0">
                          <a:solidFill>
                            <a:srgbClr val="12263F"/>
                          </a:solidFill>
                          <a:latin typeface="Calibri"/>
                        </a:rPr>
                        <a:t>90.61%</a:t>
                      </a:r>
                    </a:p>
                  </a:txBody>
                  <a:tcPr marL="54864" marR="54864" marT="27432" marB="27432" anchor="ctr">
                    <a:solidFill>
                      <a:srgbClr val="FFFFFF"/>
                    </a:solidFill>
                  </a:tcPr>
                </a:tc>
              </a:tr>
              <a:tr h="475488">
                <a:tc>
                  <a:txBody>
                    <a:bodyPr/>
                    <a:lstStyle/>
                    <a:p>
                      <a:pPr algn="l"/>
                      <a:r>
                        <a:rPr sz="1400" b="1">
                          <a:solidFill>
                            <a:srgbClr val="12263F"/>
                          </a:solidFill>
                          <a:latin typeface="Calibri"/>
                        </a:rPr>
                        <a:t>Macro recall</a:t>
                      </a:r>
                    </a:p>
                  </a:txBody>
                  <a:tcPr marL="54864" marR="54864" marT="27432" marB="27432" anchor="ctr">
                    <a:solidFill>
                      <a:srgbClr val="EEF3F7"/>
                    </a:solidFill>
                  </a:tcPr>
                </a:tc>
                <a:tc>
                  <a:txBody>
                    <a:bodyPr/>
                    <a:lstStyle/>
                    <a:p>
                      <a:pPr algn="ctr"/>
                      <a:r>
                        <a:rPr sz="1400" b="0">
                          <a:solidFill>
                            <a:srgbClr val="12263F"/>
                          </a:solidFill>
                          <a:latin typeface="Calibri"/>
                        </a:rPr>
                        <a:t>74.31%</a:t>
                      </a:r>
                    </a:p>
                  </a:txBody>
                  <a:tcPr marL="54864" marR="54864" marT="27432" marB="27432" anchor="ctr">
                    <a:solidFill>
                      <a:srgbClr val="EEF3F7"/>
                    </a:solidFill>
                  </a:tcPr>
                </a:tc>
                <a:tc>
                  <a:txBody>
                    <a:bodyPr/>
                    <a:lstStyle/>
                    <a:p>
                      <a:pPr algn="ctr"/>
                      <a:r>
                        <a:rPr sz="1400" b="0">
                          <a:solidFill>
                            <a:srgbClr val="12263F"/>
                          </a:solidFill>
                          <a:latin typeface="Calibri"/>
                        </a:rPr>
                        <a:t>90.00%</a:t>
                      </a:r>
                    </a:p>
                  </a:txBody>
                  <a:tcPr marL="54864" marR="54864" marT="27432" marB="27432" anchor="ctr">
                    <a:solidFill>
                      <a:srgbClr val="EEF3F7"/>
                    </a:solidFill>
                  </a:tcPr>
                </a:tc>
              </a:tr>
              <a:tr h="475488">
                <a:tc>
                  <a:txBody>
                    <a:bodyPr/>
                    <a:lstStyle/>
                    <a:p>
                      <a:pPr algn="l"/>
                      <a:r>
                        <a:rPr sz="1400" b="1">
                          <a:solidFill>
                            <a:srgbClr val="12263F"/>
                          </a:solidFill>
                          <a:latin typeface="Calibri"/>
                        </a:rPr>
                        <a:t>Macro F1</a:t>
                      </a:r>
                    </a:p>
                  </a:txBody>
                  <a:tcPr marL="54864" marR="54864" marT="27432" marB="27432" anchor="ctr">
                    <a:solidFill>
                      <a:srgbClr val="FFFFFF"/>
                    </a:solidFill>
                  </a:tcPr>
                </a:tc>
                <a:tc>
                  <a:txBody>
                    <a:bodyPr/>
                    <a:lstStyle/>
                    <a:p>
                      <a:pPr algn="ctr"/>
                      <a:r>
                        <a:rPr sz="1400" b="0">
                          <a:solidFill>
                            <a:srgbClr val="12263F"/>
                          </a:solidFill>
                          <a:latin typeface="Calibri"/>
                        </a:rPr>
                        <a:t>70.55%</a:t>
                      </a:r>
                    </a:p>
                  </a:txBody>
                  <a:tcPr marL="54864" marR="54864" marT="27432" marB="27432" anchor="ctr">
                    <a:solidFill>
                      <a:srgbClr val="FFFFFF"/>
                    </a:solidFill>
                  </a:tcPr>
                </a:tc>
                <a:tc>
                  <a:txBody>
                    <a:bodyPr/>
                    <a:lstStyle/>
                    <a:p>
                      <a:pPr algn="ctr"/>
                      <a:r>
                        <a:rPr sz="1400" b="0">
                          <a:solidFill>
                            <a:srgbClr val="12263F"/>
                          </a:solidFill>
                          <a:latin typeface="Calibri"/>
                        </a:rPr>
                        <a:t>89.75%</a:t>
                      </a:r>
                    </a:p>
                  </a:txBody>
                  <a:tcPr marL="54864" marR="54864" marT="27432" marB="27432" anchor="ctr">
                    <a:solidFill>
                      <a:srgbClr val="FFFFFF"/>
                    </a:solidFill>
                  </a:tcPr>
                </a:tc>
              </a:tr>
            </a:tbl>
          </a:graphicData>
        </a:graphic>
      </p:graphicFrame>
      <p:sp>
        <p:nvSpPr>
          <p:cNvPr id="9" name="TextBox 8"/>
          <p:cNvSpPr txBox="1"/>
          <p:nvPr/>
        </p:nvSpPr>
        <p:spPr>
          <a:xfrm>
            <a:off x="7498079" y="4114800"/>
            <a:ext cx="4206240" cy="1097280"/>
          </a:xfrm>
          <a:prstGeom prst="rect">
            <a:avLst/>
          </a:prstGeom>
          <a:noFill/>
        </p:spPr>
        <p:txBody>
          <a:bodyPr wrap="square" anchor="t">
            <a:spAutoFit/>
          </a:bodyPr>
          <a:lstStyle/>
          <a:p>
            <a:pPr algn="l">
              <a:spcAft>
                <a:spcPts val="600"/>
              </a:spcAft>
            </a:pPr>
            <a:r>
              <a:rPr sz="1500" b="0">
                <a:solidFill>
                  <a:srgbClr val="5A6778"/>
                </a:solidFill>
                <a:latin typeface="Calibri"/>
              </a:rPr>
              <a:t>ResNet50 is better on every metric, but the margin is from one run.</a:t>
            </a:r>
          </a:p>
        </p:txBody>
      </p:sp>
      <p:sp>
        <p:nvSpPr>
          <p:cNvPr id="10" name="TextBox 9"/>
          <p:cNvSpPr txBox="1"/>
          <p:nvPr/>
        </p:nvSpPr>
        <p:spPr>
          <a:xfrm>
            <a:off x="548640" y="5486400"/>
            <a:ext cx="11064240" cy="731520"/>
          </a:xfrm>
          <a:prstGeom prst="rect">
            <a:avLst/>
          </a:prstGeom>
          <a:noFill/>
        </p:spPr>
        <p:txBody>
          <a:bodyPr wrap="square" anchor="t">
            <a:spAutoFit/>
          </a:bodyPr>
          <a:lstStyle/>
          <a:p>
            <a:pPr algn="l">
              <a:spcAft>
                <a:spcPts val="600"/>
              </a:spcAft>
            </a:pPr>
            <a:r>
              <a:rPr sz="1300" b="0">
                <a:solidFill>
                  <a:srgbClr val="5A6778"/>
                </a:solidFill>
                <a:latin typeface="Calibri"/>
              </a:rPr>
              <a:t>Values from model_comparison_results.csv and notebook cell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Per-class behaviour: where the models fail</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10</a:t>
            </a:r>
          </a:p>
        </p:txBody>
      </p:sp>
      <p:sp>
        <p:nvSpPr>
          <p:cNvPr id="7" name="TextBox 6"/>
          <p:cNvSpPr txBox="1"/>
          <p:nvPr/>
        </p:nvSpPr>
        <p:spPr>
          <a:xfrm>
            <a:off x="548640" y="1234440"/>
            <a:ext cx="5486400" cy="411480"/>
          </a:xfrm>
          <a:prstGeom prst="rect">
            <a:avLst/>
          </a:prstGeom>
          <a:noFill/>
        </p:spPr>
        <p:txBody>
          <a:bodyPr wrap="square" anchor="t">
            <a:spAutoFit/>
          </a:bodyPr>
          <a:lstStyle/>
          <a:p>
            <a:pPr algn="l">
              <a:spcAft>
                <a:spcPts val="600"/>
              </a:spcAft>
            </a:pPr>
            <a:r>
              <a:rPr sz="1800" b="1">
                <a:solidFill>
                  <a:srgbClr val="1B9AAA"/>
                </a:solidFill>
                <a:latin typeface="Calibri"/>
              </a:rPr>
              <a:t>ResNet50 confusion matrix (test)</a:t>
            </a:r>
          </a:p>
        </p:txBody>
      </p:sp>
      <p:graphicFrame>
        <p:nvGraphicFramePr>
          <p:cNvPr id="8" name="Table 7"/>
          <p:cNvGraphicFramePr>
            <a:graphicFrameLocks noGrp="1"/>
          </p:cNvGraphicFramePr>
          <p:nvPr/>
        </p:nvGraphicFramePr>
        <p:xfrm>
          <a:off x="548640" y="1691640"/>
          <a:ext cx="5394960" cy="2286000"/>
        </p:xfrm>
        <a:graphic>
          <a:graphicData uri="http://schemas.openxmlformats.org/drawingml/2006/table">
            <a:tbl>
              <a:tblPr firstRow="1" bandRow="1">
                <a:tableStyleId>{5C22544A-7EE6-4342-B048-85BDC9FD1C3A}</a:tableStyleId>
              </a:tblPr>
              <a:tblGrid>
                <a:gridCol w="1371600"/>
                <a:gridCol w="1005840"/>
                <a:gridCol w="1005840"/>
                <a:gridCol w="1005840"/>
                <a:gridCol w="1005840"/>
              </a:tblGrid>
              <a:tr h="457200">
                <a:tc>
                  <a:txBody>
                    <a:bodyPr/>
                    <a:lstStyle/>
                    <a:p>
                      <a:pPr algn="l"/>
                      <a:r>
                        <a:rPr sz="1400" b="1">
                          <a:solidFill>
                            <a:srgbClr val="FFFFFF"/>
                          </a:solidFill>
                          <a:latin typeface="Calibri"/>
                        </a:rPr>
                        <a:t>true \ pred</a:t>
                      </a:r>
                    </a:p>
                  </a:txBody>
                  <a:tcPr marL="54864" marR="54864" marT="27432" marB="27432" anchor="ctr">
                    <a:solidFill>
                      <a:srgbClr val="12263F"/>
                    </a:solidFill>
                  </a:tcPr>
                </a:tc>
                <a:tc>
                  <a:txBody>
                    <a:bodyPr/>
                    <a:lstStyle/>
                    <a:p>
                      <a:pPr algn="ctr"/>
                      <a:r>
                        <a:rPr sz="1400" b="1">
                          <a:solidFill>
                            <a:srgbClr val="FFFFFF"/>
                          </a:solidFill>
                          <a:latin typeface="Calibri"/>
                        </a:rPr>
                        <a:t>glioma</a:t>
                      </a:r>
                    </a:p>
                  </a:txBody>
                  <a:tcPr marL="54864" marR="54864" marT="27432" marB="27432" anchor="ctr">
                    <a:solidFill>
                      <a:srgbClr val="12263F"/>
                    </a:solidFill>
                  </a:tcPr>
                </a:tc>
                <a:tc>
                  <a:txBody>
                    <a:bodyPr/>
                    <a:lstStyle/>
                    <a:p>
                      <a:pPr algn="ctr"/>
                      <a:r>
                        <a:rPr sz="1400" b="1">
                          <a:solidFill>
                            <a:srgbClr val="FFFFFF"/>
                          </a:solidFill>
                          <a:latin typeface="Calibri"/>
                        </a:rPr>
                        <a:t>mening.</a:t>
                      </a:r>
                    </a:p>
                  </a:txBody>
                  <a:tcPr marL="54864" marR="54864" marT="27432" marB="27432" anchor="ctr">
                    <a:solidFill>
                      <a:srgbClr val="12263F"/>
                    </a:solidFill>
                  </a:tcPr>
                </a:tc>
                <a:tc>
                  <a:txBody>
                    <a:bodyPr/>
                    <a:lstStyle/>
                    <a:p>
                      <a:pPr algn="ctr"/>
                      <a:r>
                        <a:rPr sz="1400" b="1">
                          <a:solidFill>
                            <a:srgbClr val="FFFFFF"/>
                          </a:solidFill>
                          <a:latin typeface="Calibri"/>
                        </a:rPr>
                        <a:t>notumor</a:t>
                      </a:r>
                    </a:p>
                  </a:txBody>
                  <a:tcPr marL="54864" marR="54864" marT="27432" marB="27432" anchor="ctr">
                    <a:solidFill>
                      <a:srgbClr val="12263F"/>
                    </a:solidFill>
                  </a:tcPr>
                </a:tc>
                <a:tc>
                  <a:txBody>
                    <a:bodyPr/>
                    <a:lstStyle/>
                    <a:p>
                      <a:pPr algn="ctr"/>
                      <a:r>
                        <a:rPr sz="1400" b="1">
                          <a:solidFill>
                            <a:srgbClr val="FFFFFF"/>
                          </a:solidFill>
                          <a:latin typeface="Calibri"/>
                        </a:rPr>
                        <a:t>pituit.</a:t>
                      </a:r>
                    </a:p>
                  </a:txBody>
                  <a:tcPr marL="54864" marR="54864" marT="27432" marB="27432" anchor="ctr">
                    <a:solidFill>
                      <a:srgbClr val="12263F"/>
                    </a:solidFill>
                  </a:tcPr>
                </a:tc>
              </a:tr>
              <a:tr h="457200">
                <a:tc>
                  <a:txBody>
                    <a:bodyPr/>
                    <a:lstStyle/>
                    <a:p>
                      <a:pPr algn="l"/>
                      <a:r>
                        <a:rPr sz="1400" b="1">
                          <a:solidFill>
                            <a:srgbClr val="12263F"/>
                          </a:solidFill>
                          <a:latin typeface="Calibri"/>
                        </a:rPr>
                        <a:t>glioma</a:t>
                      </a:r>
                    </a:p>
                  </a:txBody>
                  <a:tcPr marL="54864" marR="54864" marT="27432" marB="27432" anchor="ctr">
                    <a:solidFill>
                      <a:srgbClr val="EEF3F7"/>
                    </a:solidFill>
                  </a:tcPr>
                </a:tc>
                <a:tc>
                  <a:txBody>
                    <a:bodyPr/>
                    <a:lstStyle/>
                    <a:p>
                      <a:pPr algn="ctr"/>
                      <a:r>
                        <a:rPr sz="1400" b="0">
                          <a:solidFill>
                            <a:srgbClr val="12263F"/>
                          </a:solidFill>
                          <a:latin typeface="Calibri"/>
                        </a:rPr>
                        <a:t>285</a:t>
                      </a:r>
                    </a:p>
                  </a:txBody>
                  <a:tcPr marL="54864" marR="54864" marT="27432" marB="27432" anchor="ctr">
                    <a:solidFill>
                      <a:srgbClr val="EEF3F7"/>
                    </a:solidFill>
                  </a:tcPr>
                </a:tc>
                <a:tc>
                  <a:txBody>
                    <a:bodyPr/>
                    <a:lstStyle/>
                    <a:p>
                      <a:pPr algn="ctr"/>
                      <a:r>
                        <a:rPr sz="1400" b="0">
                          <a:solidFill>
                            <a:srgbClr val="12263F"/>
                          </a:solidFill>
                          <a:latin typeface="Calibri"/>
                        </a:rPr>
                        <a:t>87</a:t>
                      </a:r>
                    </a:p>
                  </a:txBody>
                  <a:tcPr marL="54864" marR="54864" marT="27432" marB="27432" anchor="ctr">
                    <a:solidFill>
                      <a:srgbClr val="EEF3F7"/>
                    </a:solidFill>
                  </a:tcPr>
                </a:tc>
                <a:tc>
                  <a:txBody>
                    <a:bodyPr/>
                    <a:lstStyle/>
                    <a:p>
                      <a:pPr algn="ctr"/>
                      <a:r>
                        <a:rPr sz="1400" b="0">
                          <a:solidFill>
                            <a:srgbClr val="12263F"/>
                          </a:solidFill>
                          <a:latin typeface="Calibri"/>
                        </a:rPr>
                        <a:t>24</a:t>
                      </a:r>
                    </a:p>
                  </a:txBody>
                  <a:tcPr marL="54864" marR="54864" marT="27432" marB="27432" anchor="ctr">
                    <a:solidFill>
                      <a:srgbClr val="EEF3F7"/>
                    </a:solidFill>
                  </a:tcPr>
                </a:tc>
                <a:tc>
                  <a:txBody>
                    <a:bodyPr/>
                    <a:lstStyle/>
                    <a:p>
                      <a:pPr algn="ctr"/>
                      <a:r>
                        <a:rPr sz="1400" b="0">
                          <a:solidFill>
                            <a:srgbClr val="12263F"/>
                          </a:solidFill>
                          <a:latin typeface="Calibri"/>
                        </a:rPr>
                        <a:t>4</a:t>
                      </a:r>
                    </a:p>
                  </a:txBody>
                  <a:tcPr marL="54864" marR="54864" marT="27432" marB="27432" anchor="ctr">
                    <a:solidFill>
                      <a:srgbClr val="EEF3F7"/>
                    </a:solidFill>
                  </a:tcPr>
                </a:tc>
              </a:tr>
              <a:tr h="457200">
                <a:tc>
                  <a:txBody>
                    <a:bodyPr/>
                    <a:lstStyle/>
                    <a:p>
                      <a:pPr algn="l"/>
                      <a:r>
                        <a:rPr sz="1400" b="1">
                          <a:solidFill>
                            <a:srgbClr val="12263F"/>
                          </a:solidFill>
                          <a:latin typeface="Calibri"/>
                        </a:rPr>
                        <a:t>mening.</a:t>
                      </a:r>
                    </a:p>
                  </a:txBody>
                  <a:tcPr marL="54864" marR="54864" marT="27432" marB="27432" anchor="ctr">
                    <a:solidFill>
                      <a:srgbClr val="FFFFFF"/>
                    </a:solidFill>
                  </a:tcPr>
                </a:tc>
                <a:tc>
                  <a:txBody>
                    <a:bodyPr/>
                    <a:lstStyle/>
                    <a:p>
                      <a:pPr algn="ctr"/>
                      <a:r>
                        <a:rPr sz="1400" b="0">
                          <a:solidFill>
                            <a:srgbClr val="12263F"/>
                          </a:solidFill>
                          <a:latin typeface="Calibri"/>
                        </a:rPr>
                        <a:t>14</a:t>
                      </a:r>
                    </a:p>
                  </a:txBody>
                  <a:tcPr marL="54864" marR="54864" marT="27432" marB="27432" anchor="ctr">
                    <a:solidFill>
                      <a:srgbClr val="FFFFFF"/>
                    </a:solidFill>
                  </a:tcPr>
                </a:tc>
                <a:tc>
                  <a:txBody>
                    <a:bodyPr/>
                    <a:lstStyle/>
                    <a:p>
                      <a:pPr algn="ctr"/>
                      <a:r>
                        <a:rPr sz="1400" b="0">
                          <a:solidFill>
                            <a:srgbClr val="12263F"/>
                          </a:solidFill>
                          <a:latin typeface="Calibri"/>
                        </a:rPr>
                        <a:t>363</a:t>
                      </a:r>
                    </a:p>
                  </a:txBody>
                  <a:tcPr marL="54864" marR="54864" marT="27432" marB="27432" anchor="ctr">
                    <a:solidFill>
                      <a:srgbClr val="FFFFFF"/>
                    </a:solidFill>
                  </a:tcPr>
                </a:tc>
                <a:tc>
                  <a:txBody>
                    <a:bodyPr/>
                    <a:lstStyle/>
                    <a:p>
                      <a:pPr algn="ctr"/>
                      <a:r>
                        <a:rPr sz="1400" b="0">
                          <a:solidFill>
                            <a:srgbClr val="12263F"/>
                          </a:solidFill>
                          <a:latin typeface="Calibri"/>
                        </a:rPr>
                        <a:t>11</a:t>
                      </a:r>
                    </a:p>
                  </a:txBody>
                  <a:tcPr marL="54864" marR="54864" marT="27432" marB="27432" anchor="ctr">
                    <a:solidFill>
                      <a:srgbClr val="FFFFFF"/>
                    </a:solidFill>
                  </a:tcPr>
                </a:tc>
                <a:tc>
                  <a:txBody>
                    <a:bodyPr/>
                    <a:lstStyle/>
                    <a:p>
                      <a:pPr algn="ctr"/>
                      <a:r>
                        <a:rPr sz="1400" b="0">
                          <a:solidFill>
                            <a:srgbClr val="12263F"/>
                          </a:solidFill>
                          <a:latin typeface="Calibri"/>
                        </a:rPr>
                        <a:t>12</a:t>
                      </a:r>
                    </a:p>
                  </a:txBody>
                  <a:tcPr marL="54864" marR="54864" marT="27432" marB="27432" anchor="ctr">
                    <a:solidFill>
                      <a:srgbClr val="FFFFFF"/>
                    </a:solidFill>
                  </a:tcPr>
                </a:tc>
              </a:tr>
              <a:tr h="457200">
                <a:tc>
                  <a:txBody>
                    <a:bodyPr/>
                    <a:lstStyle/>
                    <a:p>
                      <a:pPr algn="l"/>
                      <a:r>
                        <a:rPr sz="1400" b="1">
                          <a:solidFill>
                            <a:srgbClr val="12263F"/>
                          </a:solidFill>
                          <a:latin typeface="Calibri"/>
                        </a:rPr>
                        <a:t>notumor</a:t>
                      </a:r>
                    </a:p>
                  </a:txBody>
                  <a:tcPr marL="54864" marR="54864" marT="27432" marB="27432" anchor="ctr">
                    <a:solidFill>
                      <a:srgbClr val="EEF3F7"/>
                    </a:solidFill>
                  </a:tcPr>
                </a:tc>
                <a:tc>
                  <a:txBody>
                    <a:bodyPr/>
                    <a:lstStyle/>
                    <a:p>
                      <a:pPr algn="ctr"/>
                      <a:r>
                        <a:rPr sz="1400" b="0">
                          <a:solidFill>
                            <a:srgbClr val="12263F"/>
                          </a:solidFill>
                          <a:latin typeface="Calibri"/>
                        </a:rPr>
                        <a:t>0</a:t>
                      </a:r>
                    </a:p>
                  </a:txBody>
                  <a:tcPr marL="54864" marR="54864" marT="27432" marB="27432" anchor="ctr">
                    <a:solidFill>
                      <a:srgbClr val="EEF3F7"/>
                    </a:solidFill>
                  </a:tcPr>
                </a:tc>
                <a:tc>
                  <a:txBody>
                    <a:bodyPr/>
                    <a:lstStyle/>
                    <a:p>
                      <a:pPr algn="ctr"/>
                      <a:r>
                        <a:rPr sz="1400" b="0">
                          <a:solidFill>
                            <a:srgbClr val="12263F"/>
                          </a:solidFill>
                          <a:latin typeface="Calibri"/>
                        </a:rPr>
                        <a:t>1</a:t>
                      </a:r>
                    </a:p>
                  </a:txBody>
                  <a:tcPr marL="54864" marR="54864" marT="27432" marB="27432" anchor="ctr">
                    <a:solidFill>
                      <a:srgbClr val="EEF3F7"/>
                    </a:solidFill>
                  </a:tcPr>
                </a:tc>
                <a:tc>
                  <a:txBody>
                    <a:bodyPr/>
                    <a:lstStyle/>
                    <a:p>
                      <a:pPr algn="ctr"/>
                      <a:r>
                        <a:rPr sz="1400" b="0">
                          <a:solidFill>
                            <a:srgbClr val="12263F"/>
                          </a:solidFill>
                          <a:latin typeface="Calibri"/>
                        </a:rPr>
                        <a:t>399</a:t>
                      </a:r>
                    </a:p>
                  </a:txBody>
                  <a:tcPr marL="54864" marR="54864" marT="27432" marB="27432" anchor="ctr">
                    <a:solidFill>
                      <a:srgbClr val="EEF3F7"/>
                    </a:solidFill>
                  </a:tcPr>
                </a:tc>
                <a:tc>
                  <a:txBody>
                    <a:bodyPr/>
                    <a:lstStyle/>
                    <a:p>
                      <a:pPr algn="ctr"/>
                      <a:r>
                        <a:rPr sz="1400" b="0">
                          <a:solidFill>
                            <a:srgbClr val="12263F"/>
                          </a:solidFill>
                          <a:latin typeface="Calibri"/>
                        </a:rPr>
                        <a:t>0</a:t>
                      </a:r>
                    </a:p>
                  </a:txBody>
                  <a:tcPr marL="54864" marR="54864" marT="27432" marB="27432" anchor="ctr">
                    <a:solidFill>
                      <a:srgbClr val="EEF3F7"/>
                    </a:solidFill>
                  </a:tcPr>
                </a:tc>
              </a:tr>
              <a:tr h="457200">
                <a:tc>
                  <a:txBody>
                    <a:bodyPr/>
                    <a:lstStyle/>
                    <a:p>
                      <a:pPr algn="l"/>
                      <a:r>
                        <a:rPr sz="1400" b="1">
                          <a:solidFill>
                            <a:srgbClr val="12263F"/>
                          </a:solidFill>
                          <a:latin typeface="Calibri"/>
                        </a:rPr>
                        <a:t>pituit.</a:t>
                      </a:r>
                    </a:p>
                  </a:txBody>
                  <a:tcPr marL="54864" marR="54864" marT="27432" marB="27432" anchor="ctr">
                    <a:solidFill>
                      <a:srgbClr val="FFFFFF"/>
                    </a:solidFill>
                  </a:tcPr>
                </a:tc>
                <a:tc>
                  <a:txBody>
                    <a:bodyPr/>
                    <a:lstStyle/>
                    <a:p>
                      <a:pPr algn="ctr"/>
                      <a:r>
                        <a:rPr sz="1400" b="0">
                          <a:solidFill>
                            <a:srgbClr val="12263F"/>
                          </a:solidFill>
                          <a:latin typeface="Calibri"/>
                        </a:rPr>
                        <a:t>1</a:t>
                      </a:r>
                    </a:p>
                  </a:txBody>
                  <a:tcPr marL="54864" marR="54864" marT="27432" marB="27432" anchor="ctr">
                    <a:solidFill>
                      <a:srgbClr val="FFFFFF"/>
                    </a:solidFill>
                  </a:tcPr>
                </a:tc>
                <a:tc>
                  <a:txBody>
                    <a:bodyPr/>
                    <a:lstStyle/>
                    <a:p>
                      <a:pPr algn="ctr"/>
                      <a:r>
                        <a:rPr sz="1400" b="0">
                          <a:solidFill>
                            <a:srgbClr val="12263F"/>
                          </a:solidFill>
                          <a:latin typeface="Calibri"/>
                        </a:rPr>
                        <a:t>6</a:t>
                      </a:r>
                    </a:p>
                  </a:txBody>
                  <a:tcPr marL="54864" marR="54864" marT="27432" marB="27432" anchor="ctr">
                    <a:solidFill>
                      <a:srgbClr val="FFFFFF"/>
                    </a:solidFill>
                  </a:tcPr>
                </a:tc>
                <a:tc>
                  <a:txBody>
                    <a:bodyPr/>
                    <a:lstStyle/>
                    <a:p>
                      <a:pPr algn="ctr"/>
                      <a:r>
                        <a:rPr sz="1400" b="0">
                          <a:solidFill>
                            <a:srgbClr val="12263F"/>
                          </a:solidFill>
                          <a:latin typeface="Calibri"/>
                        </a:rPr>
                        <a:t>0</a:t>
                      </a:r>
                    </a:p>
                  </a:txBody>
                  <a:tcPr marL="54864" marR="54864" marT="27432" marB="27432" anchor="ctr">
                    <a:solidFill>
                      <a:srgbClr val="FFFFFF"/>
                    </a:solidFill>
                  </a:tcPr>
                </a:tc>
                <a:tc>
                  <a:txBody>
                    <a:bodyPr/>
                    <a:lstStyle/>
                    <a:p>
                      <a:pPr algn="ctr"/>
                      <a:r>
                        <a:rPr sz="1400" b="0">
                          <a:solidFill>
                            <a:srgbClr val="12263F"/>
                          </a:solidFill>
                          <a:latin typeface="Calibri"/>
                        </a:rPr>
                        <a:t>393</a:t>
                      </a:r>
                    </a:p>
                  </a:txBody>
                  <a:tcPr marL="54864" marR="54864" marT="27432" marB="27432" anchor="ctr">
                    <a:solidFill>
                      <a:srgbClr val="FFFFFF"/>
                    </a:solidFill>
                  </a:tcPr>
                </a:tc>
              </a:tr>
            </a:tbl>
          </a:graphicData>
        </a:graphic>
      </p:graphicFrame>
      <p:sp>
        <p:nvSpPr>
          <p:cNvPr id="9" name="TextBox 8"/>
          <p:cNvSpPr txBox="1"/>
          <p:nvPr/>
        </p:nvSpPr>
        <p:spPr>
          <a:xfrm>
            <a:off x="6309360" y="1234440"/>
            <a:ext cx="5486400" cy="411480"/>
          </a:xfrm>
          <a:prstGeom prst="rect">
            <a:avLst/>
          </a:prstGeom>
          <a:noFill/>
        </p:spPr>
        <p:txBody>
          <a:bodyPr wrap="square" anchor="t">
            <a:spAutoFit/>
          </a:bodyPr>
          <a:lstStyle/>
          <a:p>
            <a:pPr algn="l">
              <a:spcAft>
                <a:spcPts val="600"/>
              </a:spcAft>
            </a:pPr>
            <a:r>
              <a:rPr sz="1800" b="1">
                <a:solidFill>
                  <a:srgbClr val="1B9AAA"/>
                </a:solidFill>
                <a:latin typeface="Calibri"/>
              </a:rPr>
              <a:t>Custom CNN confusion matrix (test)</a:t>
            </a:r>
          </a:p>
        </p:txBody>
      </p:sp>
      <p:graphicFrame>
        <p:nvGraphicFramePr>
          <p:cNvPr id="10" name="Table 9"/>
          <p:cNvGraphicFramePr>
            <a:graphicFrameLocks noGrp="1"/>
          </p:cNvGraphicFramePr>
          <p:nvPr/>
        </p:nvGraphicFramePr>
        <p:xfrm>
          <a:off x="6309360" y="1691640"/>
          <a:ext cx="5394960" cy="2286000"/>
        </p:xfrm>
        <a:graphic>
          <a:graphicData uri="http://schemas.openxmlformats.org/drawingml/2006/table">
            <a:tbl>
              <a:tblPr firstRow="1" bandRow="1">
                <a:tableStyleId>{5C22544A-7EE6-4342-B048-85BDC9FD1C3A}</a:tableStyleId>
              </a:tblPr>
              <a:tblGrid>
                <a:gridCol w="1371600"/>
                <a:gridCol w="1005840"/>
                <a:gridCol w="1005840"/>
                <a:gridCol w="1005840"/>
                <a:gridCol w="1005840"/>
              </a:tblGrid>
              <a:tr h="457200">
                <a:tc>
                  <a:txBody>
                    <a:bodyPr/>
                    <a:lstStyle/>
                    <a:p>
                      <a:pPr algn="l"/>
                      <a:r>
                        <a:rPr sz="1400" b="1">
                          <a:solidFill>
                            <a:srgbClr val="FFFFFF"/>
                          </a:solidFill>
                          <a:latin typeface="Calibri"/>
                        </a:rPr>
                        <a:t>true \ pred</a:t>
                      </a:r>
                    </a:p>
                  </a:txBody>
                  <a:tcPr marL="54864" marR="54864" marT="27432" marB="27432" anchor="ctr">
                    <a:solidFill>
                      <a:srgbClr val="12263F"/>
                    </a:solidFill>
                  </a:tcPr>
                </a:tc>
                <a:tc>
                  <a:txBody>
                    <a:bodyPr/>
                    <a:lstStyle/>
                    <a:p>
                      <a:pPr algn="ctr"/>
                      <a:r>
                        <a:rPr sz="1400" b="1">
                          <a:solidFill>
                            <a:srgbClr val="FFFFFF"/>
                          </a:solidFill>
                          <a:latin typeface="Calibri"/>
                        </a:rPr>
                        <a:t>glioma</a:t>
                      </a:r>
                    </a:p>
                  </a:txBody>
                  <a:tcPr marL="54864" marR="54864" marT="27432" marB="27432" anchor="ctr">
                    <a:solidFill>
                      <a:srgbClr val="12263F"/>
                    </a:solidFill>
                  </a:tcPr>
                </a:tc>
                <a:tc>
                  <a:txBody>
                    <a:bodyPr/>
                    <a:lstStyle/>
                    <a:p>
                      <a:pPr algn="ctr"/>
                      <a:r>
                        <a:rPr sz="1400" b="1">
                          <a:solidFill>
                            <a:srgbClr val="FFFFFF"/>
                          </a:solidFill>
                          <a:latin typeface="Calibri"/>
                        </a:rPr>
                        <a:t>mening.</a:t>
                      </a:r>
                    </a:p>
                  </a:txBody>
                  <a:tcPr marL="54864" marR="54864" marT="27432" marB="27432" anchor="ctr">
                    <a:solidFill>
                      <a:srgbClr val="12263F"/>
                    </a:solidFill>
                  </a:tcPr>
                </a:tc>
                <a:tc>
                  <a:txBody>
                    <a:bodyPr/>
                    <a:lstStyle/>
                    <a:p>
                      <a:pPr algn="ctr"/>
                      <a:r>
                        <a:rPr sz="1400" b="1">
                          <a:solidFill>
                            <a:srgbClr val="FFFFFF"/>
                          </a:solidFill>
                          <a:latin typeface="Calibri"/>
                        </a:rPr>
                        <a:t>notumor</a:t>
                      </a:r>
                    </a:p>
                  </a:txBody>
                  <a:tcPr marL="54864" marR="54864" marT="27432" marB="27432" anchor="ctr">
                    <a:solidFill>
                      <a:srgbClr val="12263F"/>
                    </a:solidFill>
                  </a:tcPr>
                </a:tc>
                <a:tc>
                  <a:txBody>
                    <a:bodyPr/>
                    <a:lstStyle/>
                    <a:p>
                      <a:pPr algn="ctr"/>
                      <a:r>
                        <a:rPr sz="1400" b="1">
                          <a:solidFill>
                            <a:srgbClr val="FFFFFF"/>
                          </a:solidFill>
                          <a:latin typeface="Calibri"/>
                        </a:rPr>
                        <a:t>pituit.</a:t>
                      </a:r>
                    </a:p>
                  </a:txBody>
                  <a:tcPr marL="54864" marR="54864" marT="27432" marB="27432" anchor="ctr">
                    <a:solidFill>
                      <a:srgbClr val="12263F"/>
                    </a:solidFill>
                  </a:tcPr>
                </a:tc>
              </a:tr>
              <a:tr h="457200">
                <a:tc>
                  <a:txBody>
                    <a:bodyPr/>
                    <a:lstStyle/>
                    <a:p>
                      <a:pPr algn="l"/>
                      <a:r>
                        <a:rPr sz="1400" b="1">
                          <a:solidFill>
                            <a:srgbClr val="12263F"/>
                          </a:solidFill>
                          <a:latin typeface="Calibri"/>
                        </a:rPr>
                        <a:t>glioma</a:t>
                      </a:r>
                    </a:p>
                  </a:txBody>
                  <a:tcPr marL="54864" marR="54864" marT="27432" marB="27432" anchor="ctr">
                    <a:solidFill>
                      <a:srgbClr val="EEF3F7"/>
                    </a:solidFill>
                  </a:tcPr>
                </a:tc>
                <a:tc>
                  <a:txBody>
                    <a:bodyPr/>
                    <a:lstStyle/>
                    <a:p>
                      <a:pPr algn="ctr"/>
                      <a:r>
                        <a:rPr sz="1400" b="0">
                          <a:solidFill>
                            <a:srgbClr val="12263F"/>
                          </a:solidFill>
                          <a:latin typeface="Calibri"/>
                        </a:rPr>
                        <a:t>303</a:t>
                      </a:r>
                    </a:p>
                  </a:txBody>
                  <a:tcPr marL="54864" marR="54864" marT="27432" marB="27432" anchor="ctr">
                    <a:solidFill>
                      <a:srgbClr val="EEF3F7"/>
                    </a:solidFill>
                  </a:tcPr>
                </a:tc>
                <a:tc>
                  <a:txBody>
                    <a:bodyPr/>
                    <a:lstStyle/>
                    <a:p>
                      <a:pPr algn="ctr"/>
                      <a:r>
                        <a:rPr sz="1400" b="0">
                          <a:solidFill>
                            <a:srgbClr val="12263F"/>
                          </a:solidFill>
                          <a:latin typeface="Calibri"/>
                        </a:rPr>
                        <a:t>20</a:t>
                      </a:r>
                    </a:p>
                  </a:txBody>
                  <a:tcPr marL="54864" marR="54864" marT="27432" marB="27432" anchor="ctr">
                    <a:solidFill>
                      <a:srgbClr val="EEF3F7"/>
                    </a:solidFill>
                  </a:tcPr>
                </a:tc>
                <a:tc>
                  <a:txBody>
                    <a:bodyPr/>
                    <a:lstStyle/>
                    <a:p>
                      <a:pPr algn="ctr"/>
                      <a:r>
                        <a:rPr sz="1400" b="0">
                          <a:solidFill>
                            <a:srgbClr val="12263F"/>
                          </a:solidFill>
                          <a:latin typeface="Calibri"/>
                        </a:rPr>
                        <a:t>64</a:t>
                      </a:r>
                    </a:p>
                  </a:txBody>
                  <a:tcPr marL="54864" marR="54864" marT="27432" marB="27432" anchor="ctr">
                    <a:solidFill>
                      <a:srgbClr val="EEF3F7"/>
                    </a:solidFill>
                  </a:tcPr>
                </a:tc>
                <a:tc>
                  <a:txBody>
                    <a:bodyPr/>
                    <a:lstStyle/>
                    <a:p>
                      <a:pPr algn="ctr"/>
                      <a:r>
                        <a:rPr sz="1400" b="0">
                          <a:solidFill>
                            <a:srgbClr val="12263F"/>
                          </a:solidFill>
                          <a:latin typeface="Calibri"/>
                        </a:rPr>
                        <a:t>13</a:t>
                      </a:r>
                    </a:p>
                  </a:txBody>
                  <a:tcPr marL="54864" marR="54864" marT="27432" marB="27432" anchor="ctr">
                    <a:solidFill>
                      <a:srgbClr val="EEF3F7"/>
                    </a:solidFill>
                  </a:tcPr>
                </a:tc>
              </a:tr>
              <a:tr h="457200">
                <a:tc>
                  <a:txBody>
                    <a:bodyPr/>
                    <a:lstStyle/>
                    <a:p>
                      <a:pPr algn="l"/>
                      <a:r>
                        <a:rPr sz="1400" b="1">
                          <a:solidFill>
                            <a:srgbClr val="12263F"/>
                          </a:solidFill>
                          <a:latin typeface="Calibri"/>
                        </a:rPr>
                        <a:t>mening.</a:t>
                      </a:r>
                    </a:p>
                  </a:txBody>
                  <a:tcPr marL="54864" marR="54864" marT="27432" marB="27432" anchor="ctr">
                    <a:solidFill>
                      <a:srgbClr val="FFFFFF"/>
                    </a:solidFill>
                  </a:tcPr>
                </a:tc>
                <a:tc>
                  <a:txBody>
                    <a:bodyPr/>
                    <a:lstStyle/>
                    <a:p>
                      <a:pPr algn="ctr"/>
                      <a:r>
                        <a:rPr sz="1400" b="0">
                          <a:solidFill>
                            <a:srgbClr val="12263F"/>
                          </a:solidFill>
                          <a:latin typeface="Calibri"/>
                        </a:rPr>
                        <a:t>129</a:t>
                      </a:r>
                    </a:p>
                  </a:txBody>
                  <a:tcPr marL="54864" marR="54864" marT="27432" marB="27432" anchor="ctr">
                    <a:solidFill>
                      <a:srgbClr val="FFFFFF"/>
                    </a:solidFill>
                  </a:tcPr>
                </a:tc>
                <a:tc>
                  <a:txBody>
                    <a:bodyPr/>
                    <a:lstStyle/>
                    <a:p>
                      <a:pPr algn="ctr"/>
                      <a:r>
                        <a:rPr sz="1400" b="0">
                          <a:solidFill>
                            <a:srgbClr val="12263F"/>
                          </a:solidFill>
                          <a:latin typeface="Calibri"/>
                        </a:rPr>
                        <a:t>99</a:t>
                      </a:r>
                    </a:p>
                  </a:txBody>
                  <a:tcPr marL="54864" marR="54864" marT="27432" marB="27432" anchor="ctr">
                    <a:solidFill>
                      <a:srgbClr val="FFFFFF"/>
                    </a:solidFill>
                  </a:tcPr>
                </a:tc>
                <a:tc>
                  <a:txBody>
                    <a:bodyPr/>
                    <a:lstStyle/>
                    <a:p>
                      <a:pPr algn="ctr"/>
                      <a:r>
                        <a:rPr sz="1400" b="0">
                          <a:solidFill>
                            <a:srgbClr val="12263F"/>
                          </a:solidFill>
                          <a:latin typeface="Calibri"/>
                        </a:rPr>
                        <a:t>125</a:t>
                      </a:r>
                    </a:p>
                  </a:txBody>
                  <a:tcPr marL="54864" marR="54864" marT="27432" marB="27432" anchor="ctr">
                    <a:solidFill>
                      <a:srgbClr val="FFFFFF"/>
                    </a:solidFill>
                  </a:tcPr>
                </a:tc>
                <a:tc>
                  <a:txBody>
                    <a:bodyPr/>
                    <a:lstStyle/>
                    <a:p>
                      <a:pPr algn="ctr"/>
                      <a:r>
                        <a:rPr sz="1400" b="0">
                          <a:solidFill>
                            <a:srgbClr val="12263F"/>
                          </a:solidFill>
                          <a:latin typeface="Calibri"/>
                        </a:rPr>
                        <a:t>47</a:t>
                      </a:r>
                    </a:p>
                  </a:txBody>
                  <a:tcPr marL="54864" marR="54864" marT="27432" marB="27432" anchor="ctr">
                    <a:solidFill>
                      <a:srgbClr val="FFFFFF"/>
                    </a:solidFill>
                  </a:tcPr>
                </a:tc>
              </a:tr>
              <a:tr h="457200">
                <a:tc>
                  <a:txBody>
                    <a:bodyPr/>
                    <a:lstStyle/>
                    <a:p>
                      <a:pPr algn="l"/>
                      <a:r>
                        <a:rPr sz="1400" b="1">
                          <a:solidFill>
                            <a:srgbClr val="12263F"/>
                          </a:solidFill>
                          <a:latin typeface="Calibri"/>
                        </a:rPr>
                        <a:t>notumor</a:t>
                      </a:r>
                    </a:p>
                  </a:txBody>
                  <a:tcPr marL="54864" marR="54864" marT="27432" marB="27432" anchor="ctr">
                    <a:solidFill>
                      <a:srgbClr val="EEF3F7"/>
                    </a:solidFill>
                  </a:tcPr>
                </a:tc>
                <a:tc>
                  <a:txBody>
                    <a:bodyPr/>
                    <a:lstStyle/>
                    <a:p>
                      <a:pPr algn="ctr"/>
                      <a:r>
                        <a:rPr sz="1400" b="0">
                          <a:solidFill>
                            <a:srgbClr val="12263F"/>
                          </a:solidFill>
                          <a:latin typeface="Calibri"/>
                        </a:rPr>
                        <a:t>0</a:t>
                      </a:r>
                    </a:p>
                  </a:txBody>
                  <a:tcPr marL="54864" marR="54864" marT="27432" marB="27432" anchor="ctr">
                    <a:solidFill>
                      <a:srgbClr val="EEF3F7"/>
                    </a:solidFill>
                  </a:tcPr>
                </a:tc>
                <a:tc>
                  <a:txBody>
                    <a:bodyPr/>
                    <a:lstStyle/>
                    <a:p>
                      <a:pPr algn="ctr"/>
                      <a:r>
                        <a:rPr sz="1400" b="0">
                          <a:solidFill>
                            <a:srgbClr val="12263F"/>
                          </a:solidFill>
                          <a:latin typeface="Calibri"/>
                        </a:rPr>
                        <a:t>0</a:t>
                      </a:r>
                    </a:p>
                  </a:txBody>
                  <a:tcPr marL="54864" marR="54864" marT="27432" marB="27432" anchor="ctr">
                    <a:solidFill>
                      <a:srgbClr val="EEF3F7"/>
                    </a:solidFill>
                  </a:tcPr>
                </a:tc>
                <a:tc>
                  <a:txBody>
                    <a:bodyPr/>
                    <a:lstStyle/>
                    <a:p>
                      <a:pPr algn="ctr"/>
                      <a:r>
                        <a:rPr sz="1400" b="0">
                          <a:solidFill>
                            <a:srgbClr val="12263F"/>
                          </a:solidFill>
                          <a:latin typeface="Calibri"/>
                        </a:rPr>
                        <a:t>400</a:t>
                      </a:r>
                    </a:p>
                  </a:txBody>
                  <a:tcPr marL="54864" marR="54864" marT="27432" marB="27432" anchor="ctr">
                    <a:solidFill>
                      <a:srgbClr val="EEF3F7"/>
                    </a:solidFill>
                  </a:tcPr>
                </a:tc>
                <a:tc>
                  <a:txBody>
                    <a:bodyPr/>
                    <a:lstStyle/>
                    <a:p>
                      <a:pPr algn="ctr"/>
                      <a:r>
                        <a:rPr sz="1400" b="0">
                          <a:solidFill>
                            <a:srgbClr val="12263F"/>
                          </a:solidFill>
                          <a:latin typeface="Calibri"/>
                        </a:rPr>
                        <a:t>0</a:t>
                      </a:r>
                    </a:p>
                  </a:txBody>
                  <a:tcPr marL="54864" marR="54864" marT="27432" marB="27432" anchor="ctr">
                    <a:solidFill>
                      <a:srgbClr val="EEF3F7"/>
                    </a:solidFill>
                  </a:tcPr>
                </a:tc>
              </a:tr>
              <a:tr h="457200">
                <a:tc>
                  <a:txBody>
                    <a:bodyPr/>
                    <a:lstStyle/>
                    <a:p>
                      <a:pPr algn="l"/>
                      <a:r>
                        <a:rPr sz="1400" b="1">
                          <a:solidFill>
                            <a:srgbClr val="12263F"/>
                          </a:solidFill>
                          <a:latin typeface="Calibri"/>
                        </a:rPr>
                        <a:t>pituit.</a:t>
                      </a:r>
                    </a:p>
                  </a:txBody>
                  <a:tcPr marL="54864" marR="54864" marT="27432" marB="27432" anchor="ctr">
                    <a:solidFill>
                      <a:srgbClr val="FFFFFF"/>
                    </a:solidFill>
                  </a:tcPr>
                </a:tc>
                <a:tc>
                  <a:txBody>
                    <a:bodyPr/>
                    <a:lstStyle/>
                    <a:p>
                      <a:pPr algn="ctr"/>
                      <a:r>
                        <a:rPr sz="1400" b="0">
                          <a:solidFill>
                            <a:srgbClr val="12263F"/>
                          </a:solidFill>
                          <a:latin typeface="Calibri"/>
                        </a:rPr>
                        <a:t>7</a:t>
                      </a:r>
                    </a:p>
                  </a:txBody>
                  <a:tcPr marL="54864" marR="54864" marT="27432" marB="27432" anchor="ctr">
                    <a:solidFill>
                      <a:srgbClr val="FFFFFF"/>
                    </a:solidFill>
                  </a:tcPr>
                </a:tc>
                <a:tc>
                  <a:txBody>
                    <a:bodyPr/>
                    <a:lstStyle/>
                    <a:p>
                      <a:pPr algn="ctr"/>
                      <a:r>
                        <a:rPr sz="1400" b="0">
                          <a:solidFill>
                            <a:srgbClr val="12263F"/>
                          </a:solidFill>
                          <a:latin typeface="Calibri"/>
                        </a:rPr>
                        <a:t>5</a:t>
                      </a:r>
                    </a:p>
                  </a:txBody>
                  <a:tcPr marL="54864" marR="54864" marT="27432" marB="27432" anchor="ctr">
                    <a:solidFill>
                      <a:srgbClr val="FFFFFF"/>
                    </a:solidFill>
                  </a:tcPr>
                </a:tc>
                <a:tc>
                  <a:txBody>
                    <a:bodyPr/>
                    <a:lstStyle/>
                    <a:p>
                      <a:pPr algn="ctr"/>
                      <a:r>
                        <a:rPr sz="1400" b="0">
                          <a:solidFill>
                            <a:srgbClr val="12263F"/>
                          </a:solidFill>
                          <a:latin typeface="Calibri"/>
                        </a:rPr>
                        <a:t>1</a:t>
                      </a:r>
                    </a:p>
                  </a:txBody>
                  <a:tcPr marL="54864" marR="54864" marT="27432" marB="27432" anchor="ctr">
                    <a:solidFill>
                      <a:srgbClr val="FFFFFF"/>
                    </a:solidFill>
                  </a:tcPr>
                </a:tc>
                <a:tc>
                  <a:txBody>
                    <a:bodyPr/>
                    <a:lstStyle/>
                    <a:p>
                      <a:pPr algn="ctr"/>
                      <a:r>
                        <a:rPr sz="1400" b="0">
                          <a:solidFill>
                            <a:srgbClr val="12263F"/>
                          </a:solidFill>
                          <a:latin typeface="Calibri"/>
                        </a:rPr>
                        <a:t>387</a:t>
                      </a:r>
                    </a:p>
                  </a:txBody>
                  <a:tcPr marL="54864" marR="54864" marT="27432" marB="27432" anchor="ctr">
                    <a:solidFill>
                      <a:srgbClr val="FFFFFF"/>
                    </a:solidFill>
                  </a:tcPr>
                </a:tc>
              </a:tr>
            </a:tbl>
          </a:graphicData>
        </a:graphic>
      </p:graphicFrame>
      <p:sp>
        <p:nvSpPr>
          <p:cNvPr id="11" name="TextBox 10"/>
          <p:cNvSpPr txBox="1"/>
          <p:nvPr/>
        </p:nvSpPr>
        <p:spPr>
          <a:xfrm>
            <a:off x="548640" y="4206240"/>
            <a:ext cx="11064240" cy="2103120"/>
          </a:xfrm>
          <a:prstGeom prst="rect">
            <a:avLst/>
          </a:prstGeom>
          <a:noFill/>
        </p:spPr>
        <p:txBody>
          <a:bodyPr wrap="square" anchor="t">
            <a:spAutoFit/>
          </a:bodyPr>
          <a:lstStyle/>
          <a:p>
            <a:pPr algn="l">
              <a:spcAft>
                <a:spcPts val="800"/>
              </a:spcAft>
            </a:pPr>
            <a:r>
              <a:rPr sz="1700" b="0">
                <a:solidFill>
                  <a:srgbClr val="12263F"/>
                </a:solidFill>
                <a:latin typeface="Calibri"/>
              </a:rPr>
              <a:t>•  ResNet50: glioma recall 0.71 (87 of 400 predicted meningioma); meningioma precision 0.79; notumor recall 1.00.</a:t>
            </a:r>
          </a:p>
          <a:p>
            <a:pPr algn="l">
              <a:spcAft>
                <a:spcPts val="800"/>
              </a:spcAft>
            </a:pPr>
            <a:r>
              <a:rPr sz="1700" b="0">
                <a:solidFill>
                  <a:srgbClr val="12263F"/>
                </a:solidFill>
                <a:latin typeface="Calibri"/>
              </a:rPr>
              <a:t>•  Custom CNN: meningioma recall 0.25 (129 predicted glioma, 125 predicted notumor); notumor precision 0.68.</a:t>
            </a:r>
          </a:p>
          <a:p>
            <a:pPr algn="l">
              <a:spcAft>
                <a:spcPts val="800"/>
              </a:spcAft>
            </a:pPr>
            <a:r>
              <a:rPr sz="1700" b="0">
                <a:solidFill>
                  <a:srgbClr val="12263F"/>
                </a:solidFill>
                <a:latin typeface="Calibri"/>
              </a:rPr>
              <a:t>•  A single accuracy number hides these differences, which is why we show the matrices.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System architecture</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11</a:t>
            </a:r>
          </a:p>
        </p:txBody>
      </p:sp>
      <p:pic>
        <p:nvPicPr>
          <p:cNvPr id="7" name="Picture 6" descr="diagram_architecture.png"/>
          <p:cNvPicPr>
            <a:picLocks noChangeAspect="1"/>
          </p:cNvPicPr>
          <p:nvPr/>
        </p:nvPicPr>
        <p:blipFill>
          <a:blip r:embed="rId3"/>
          <a:stretch>
            <a:fillRect/>
          </a:stretch>
        </p:blipFill>
        <p:spPr>
          <a:xfrm>
            <a:off x="365760" y="1923305"/>
            <a:ext cx="7132320" cy="3560029"/>
          </a:xfrm>
          <a:prstGeom prst="rect">
            <a:avLst/>
          </a:prstGeom>
        </p:spPr>
      </p:pic>
      <p:sp>
        <p:nvSpPr>
          <p:cNvPr id="8" name="TextBox 7"/>
          <p:cNvSpPr txBox="1"/>
          <p:nvPr/>
        </p:nvSpPr>
        <p:spPr>
          <a:xfrm>
            <a:off x="7680960" y="1371600"/>
            <a:ext cx="4114800" cy="4846320"/>
          </a:xfrm>
          <a:prstGeom prst="rect">
            <a:avLst/>
          </a:prstGeom>
          <a:noFill/>
        </p:spPr>
        <p:txBody>
          <a:bodyPr wrap="square" anchor="t">
            <a:spAutoFit/>
          </a:bodyPr>
          <a:lstStyle/>
          <a:p>
            <a:pPr algn="l">
              <a:spcAft>
                <a:spcPts val="800"/>
              </a:spcAft>
            </a:pPr>
            <a:r>
              <a:rPr sz="1700" b="0">
                <a:solidFill>
                  <a:srgbClr val="12263F"/>
                </a:solidFill>
                <a:latin typeface="Calibri"/>
              </a:rPr>
              <a:t>•  React + Vite frontend, 8 pages</a:t>
            </a:r>
          </a:p>
          <a:p>
            <a:pPr algn="l">
              <a:spcAft>
                <a:spcPts val="800"/>
              </a:spcAft>
            </a:pPr>
            <a:r>
              <a:rPr sz="1700" b="0">
                <a:solidFill>
                  <a:srgbClr val="12263F"/>
                </a:solidFill>
                <a:latin typeface="Calibri"/>
              </a:rPr>
              <a:t>•  FastAPI backend under /api</a:t>
            </a:r>
          </a:p>
          <a:p>
            <a:pPr algn="l">
              <a:spcAft>
                <a:spcPts val="800"/>
              </a:spcAft>
            </a:pPr>
            <a:r>
              <a:rPr sz="1700" b="0">
                <a:solidFill>
                  <a:srgbClr val="12263F"/>
                </a:solidFill>
                <a:latin typeface="Calibri"/>
              </a:rPr>
              <a:t>•  Models loaded lazily; /api/health works without TensorFlow</a:t>
            </a:r>
          </a:p>
          <a:p>
            <a:pPr algn="l">
              <a:spcAft>
                <a:spcPts val="800"/>
              </a:spcAft>
            </a:pPr>
            <a:r>
              <a:rPr sz="1700" b="0">
                <a:solidFill>
                  <a:srgbClr val="12263F"/>
                </a:solidFill>
                <a:latin typeface="Calibri"/>
              </a:rPr>
              <a:t>•  SQLite and files stay on the host machine</a:t>
            </a:r>
          </a:p>
          <a:p>
            <a:pPr algn="l">
              <a:spcAft>
                <a:spcPts val="800"/>
              </a:spcAft>
            </a:pPr>
            <a:r>
              <a:rPr sz="1700" b="0">
                <a:solidFill>
                  <a:srgbClr val="12263F"/>
                </a:solidFill>
                <a:latin typeface="Calibri"/>
              </a:rPr>
              <a:t>•  Optional API key, rate limit, upload size and pixel limits</a:t>
            </a:r>
          </a:p>
          <a:p>
            <a:pPr algn="l">
              <a:spcAft>
                <a:spcPts val="800"/>
              </a:spcAft>
            </a:pPr>
            <a:r>
              <a:rPr sz="1700" b="0">
                <a:solidFill>
                  <a:srgbClr val="12263F"/>
                </a:solidFill>
                <a:latin typeface="Calibri"/>
              </a:rPr>
              <a:t>•  Demo mode with a visible badge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The web application</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12</a:t>
            </a:r>
          </a:p>
        </p:txBody>
      </p:sp>
      <p:sp>
        <p:nvSpPr>
          <p:cNvPr id="7" name="Rectangle 6"/>
          <p:cNvSpPr/>
          <p:nvPr/>
        </p:nvSpPr>
        <p:spPr>
          <a:xfrm>
            <a:off x="548640" y="1325880"/>
            <a:ext cx="3566160" cy="2377440"/>
          </a:xfrm>
          <a:prstGeom prst="rect">
            <a:avLst/>
          </a:prstGeom>
          <a:solidFill>
            <a:srgbClr val="EEF3F7"/>
          </a:solidFill>
          <a:ln w="19050">
            <a:solidFill>
              <a:srgbClr val="5A67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5A6778"/>
                </a:solidFill>
                <a:latin typeface="Calibri"/>
              </a:rPr>
              <a:t>Screenshot to insert</a:t>
            </a:r>
          </a:p>
          <a:p>
            <a:pPr algn="ctr"/>
            <a:r>
              <a:rPr sz="1300">
                <a:solidFill>
                  <a:srgbClr val="5A6778"/>
                </a:solidFill>
                <a:latin typeface="Calibri"/>
              </a:rPr>
              <a:t>Dashboard</a:t>
            </a:r>
          </a:p>
        </p:txBody>
      </p:sp>
      <p:sp>
        <p:nvSpPr>
          <p:cNvPr id="8" name="Rectangle 7"/>
          <p:cNvSpPr/>
          <p:nvPr/>
        </p:nvSpPr>
        <p:spPr>
          <a:xfrm>
            <a:off x="4297680" y="1325880"/>
            <a:ext cx="3566160" cy="2377440"/>
          </a:xfrm>
          <a:prstGeom prst="rect">
            <a:avLst/>
          </a:prstGeom>
          <a:solidFill>
            <a:srgbClr val="EEF3F7"/>
          </a:solidFill>
          <a:ln w="19050">
            <a:solidFill>
              <a:srgbClr val="5A67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5A6778"/>
                </a:solidFill>
                <a:latin typeface="Calibri"/>
              </a:rPr>
              <a:t>Screenshot to insert</a:t>
            </a:r>
          </a:p>
          <a:p>
            <a:pPr algn="ctr"/>
            <a:r>
              <a:rPr sz="1300">
                <a:solidFill>
                  <a:srgbClr val="5A6778"/>
                </a:solidFill>
                <a:latin typeface="Calibri"/>
              </a:rPr>
              <a:t>New Analysis (upload and options)</a:t>
            </a:r>
          </a:p>
        </p:txBody>
      </p:sp>
      <p:sp>
        <p:nvSpPr>
          <p:cNvPr id="9" name="Rectangle 8"/>
          <p:cNvSpPr/>
          <p:nvPr/>
        </p:nvSpPr>
        <p:spPr>
          <a:xfrm>
            <a:off x="8046720" y="1325880"/>
            <a:ext cx="3566160" cy="2377440"/>
          </a:xfrm>
          <a:prstGeom prst="rect">
            <a:avLst/>
          </a:prstGeom>
          <a:solidFill>
            <a:srgbClr val="EEF3F7"/>
          </a:solidFill>
          <a:ln w="19050">
            <a:solidFill>
              <a:srgbClr val="5A67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5A6778"/>
                </a:solidFill>
                <a:latin typeface="Calibri"/>
              </a:rPr>
              <a:t>Screenshot to insert</a:t>
            </a:r>
          </a:p>
          <a:p>
            <a:pPr algn="ctr"/>
            <a:r>
              <a:rPr sz="1300">
                <a:solidFill>
                  <a:srgbClr val="5A6778"/>
                </a:solidFill>
                <a:latin typeface="Calibri"/>
              </a:rPr>
              <a:t>History table</a:t>
            </a:r>
          </a:p>
        </p:txBody>
      </p:sp>
      <p:sp>
        <p:nvSpPr>
          <p:cNvPr id="10" name="TextBox 9"/>
          <p:cNvSpPr txBox="1"/>
          <p:nvPr/>
        </p:nvSpPr>
        <p:spPr>
          <a:xfrm>
            <a:off x="548640" y="3931920"/>
            <a:ext cx="11064240" cy="2377440"/>
          </a:xfrm>
          <a:prstGeom prst="rect">
            <a:avLst/>
          </a:prstGeom>
          <a:noFill/>
        </p:spPr>
        <p:txBody>
          <a:bodyPr wrap="square" anchor="t">
            <a:spAutoFit/>
          </a:bodyPr>
          <a:lstStyle/>
          <a:p>
            <a:pPr algn="l">
              <a:spcAft>
                <a:spcPts val="700"/>
              </a:spcAft>
            </a:pPr>
            <a:r>
              <a:rPr sz="1700" b="0">
                <a:solidFill>
                  <a:srgbClr val="12263F"/>
                </a:solidFill>
                <a:latin typeface="Calibri"/>
              </a:rPr>
              <a:t>•  Pages: Dashboard, New Analysis, Results, History, Report, Insights, Compare, Settings.</a:t>
            </a:r>
          </a:p>
          <a:p>
            <a:pPr algn="l">
              <a:spcAft>
                <a:spcPts val="700"/>
              </a:spcAft>
            </a:pPr>
            <a:r>
              <a:rPr sz="1700" b="0">
                <a:solidFill>
                  <a:srgbClr val="12263F"/>
                </a:solidFill>
                <a:latin typeface="Calibri"/>
              </a:rPr>
              <a:t>•  Model choice: ResNet50, Custom CNN, or both side by side.</a:t>
            </a:r>
          </a:p>
          <a:p>
            <a:pPr algn="l">
              <a:spcAft>
                <a:spcPts val="700"/>
              </a:spcAft>
            </a:pPr>
            <a:r>
              <a:rPr sz="1700" b="0">
                <a:solidFill>
                  <a:srgbClr val="12263F"/>
                </a:solidFill>
                <a:latin typeface="Calibri"/>
              </a:rPr>
              <a:t>•  History with search and filter; one-click delete with confirmation; PDF report per scan.</a:t>
            </a:r>
          </a:p>
          <a:p>
            <a:pPr algn="l">
              <a:spcAft>
                <a:spcPts val="700"/>
              </a:spcAft>
            </a:pPr>
            <a:r>
              <a:rPr sz="1700" b="0">
                <a:solidFill>
                  <a:srgbClr val="12263F"/>
                </a:solidFill>
                <a:latin typeface="Calibri"/>
              </a:rPr>
              <a:t>•  Preferences stay in the browser; no accounts.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Explainability and safety by design</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13</a:t>
            </a:r>
          </a:p>
        </p:txBody>
      </p:sp>
      <p:sp>
        <p:nvSpPr>
          <p:cNvPr id="7" name="Rectangle 6"/>
          <p:cNvSpPr/>
          <p:nvPr/>
        </p:nvSpPr>
        <p:spPr>
          <a:xfrm>
            <a:off x="548640" y="1325880"/>
            <a:ext cx="3566160" cy="2651760"/>
          </a:xfrm>
          <a:prstGeom prst="rect">
            <a:avLst/>
          </a:prstGeom>
          <a:solidFill>
            <a:srgbClr val="EEF3F7"/>
          </a:solidFill>
          <a:ln w="19050">
            <a:solidFill>
              <a:srgbClr val="5A67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5A6778"/>
                </a:solidFill>
                <a:latin typeface="Calibri"/>
              </a:rPr>
              <a:t>Screenshot to insert</a:t>
            </a:r>
          </a:p>
          <a:p>
            <a:pPr algn="ctr"/>
            <a:r>
              <a:rPr sz="1300">
                <a:solidFill>
                  <a:srgbClr val="5A6778"/>
                </a:solidFill>
                <a:latin typeface="Calibri"/>
              </a:rPr>
              <a:t>Results page with Grad-CAM heatmap</a:t>
            </a:r>
          </a:p>
        </p:txBody>
      </p:sp>
      <p:sp>
        <p:nvSpPr>
          <p:cNvPr id="8" name="Rectangle 7"/>
          <p:cNvSpPr/>
          <p:nvPr/>
        </p:nvSpPr>
        <p:spPr>
          <a:xfrm>
            <a:off x="4297680" y="1325880"/>
            <a:ext cx="3566160" cy="2651760"/>
          </a:xfrm>
          <a:prstGeom prst="rect">
            <a:avLst/>
          </a:prstGeom>
          <a:solidFill>
            <a:srgbClr val="EEF3F7"/>
          </a:solidFill>
          <a:ln w="19050">
            <a:solidFill>
              <a:srgbClr val="5A677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5A6778"/>
                </a:solidFill>
                <a:latin typeface="Calibri"/>
              </a:rPr>
              <a:t>Screenshot to insert</a:t>
            </a:r>
          </a:p>
          <a:p>
            <a:pPr algn="ctr"/>
            <a:r>
              <a:rPr sz="1300">
                <a:solidFill>
                  <a:srgbClr val="5A6778"/>
                </a:solidFill>
                <a:latin typeface="Calibri"/>
              </a:rPr>
              <a:t>Uncertain result state (top score below 0.6)</a:t>
            </a:r>
          </a:p>
        </p:txBody>
      </p:sp>
      <p:sp>
        <p:nvSpPr>
          <p:cNvPr id="9" name="TextBox 8"/>
          <p:cNvSpPr txBox="1"/>
          <p:nvPr/>
        </p:nvSpPr>
        <p:spPr>
          <a:xfrm>
            <a:off x="8138160" y="1280160"/>
            <a:ext cx="3566160" cy="2834640"/>
          </a:xfrm>
          <a:prstGeom prst="rect">
            <a:avLst/>
          </a:prstGeom>
          <a:noFill/>
        </p:spPr>
        <p:txBody>
          <a:bodyPr wrap="square" anchor="t">
            <a:spAutoFit/>
          </a:bodyPr>
          <a:lstStyle/>
          <a:p>
            <a:pPr algn="l">
              <a:spcAft>
                <a:spcPts val="700"/>
              </a:spcAft>
            </a:pPr>
            <a:r>
              <a:rPr sz="1600" b="0">
                <a:solidFill>
                  <a:srgbClr val="12263F"/>
                </a:solidFill>
                <a:latin typeface="Calibri"/>
              </a:rPr>
              <a:t>•  Grad-CAM: an aid, not proof; coarse 7 x 7 for ResNet50</a:t>
            </a:r>
          </a:p>
          <a:p>
            <a:pPr algn="l">
              <a:spcAft>
                <a:spcPts val="700"/>
              </a:spcAft>
            </a:pPr>
            <a:r>
              <a:rPr sz="1600" b="0">
                <a:solidFill>
                  <a:srgbClr val="12263F"/>
                </a:solidFill>
                <a:latin typeface="Calibri"/>
              </a:rPr>
              <a:t>•  Uncertain result when top score &lt; 0.6</a:t>
            </a:r>
          </a:p>
          <a:p>
            <a:pPr algn="l">
              <a:spcAft>
                <a:spcPts val="700"/>
              </a:spcAft>
            </a:pPr>
            <a:r>
              <a:rPr sz="1600" b="0">
                <a:solidFill>
                  <a:srgbClr val="12263F"/>
                </a:solidFill>
                <a:latin typeface="Calibri"/>
              </a:rPr>
              <a:t>•  All four probabilities and the runner-up shown</a:t>
            </a:r>
          </a:p>
        </p:txBody>
      </p:sp>
      <p:sp>
        <p:nvSpPr>
          <p:cNvPr id="10" name="TextBox 9"/>
          <p:cNvSpPr txBox="1"/>
          <p:nvPr/>
        </p:nvSpPr>
        <p:spPr>
          <a:xfrm>
            <a:off x="548640" y="4206240"/>
            <a:ext cx="11064240" cy="2103120"/>
          </a:xfrm>
          <a:prstGeom prst="rect">
            <a:avLst/>
          </a:prstGeom>
          <a:noFill/>
        </p:spPr>
        <p:txBody>
          <a:bodyPr wrap="square" anchor="t">
            <a:spAutoFit/>
          </a:bodyPr>
          <a:lstStyle/>
          <a:p>
            <a:pPr algn="l">
              <a:spcAft>
                <a:spcPts val="700"/>
              </a:spcAft>
            </a:pPr>
            <a:r>
              <a:rPr sz="1600" b="0">
                <a:solidFill>
                  <a:srgbClr val="12263F"/>
                </a:solidFill>
                <a:latin typeface="Calibri"/>
              </a:rPr>
              <a:t>•  Disclaimer on results and in the PDF: "AI-generated prediction for educational and research use only. It is not a medical diagnosis and must not replace review by a qualified clinician."</a:t>
            </a:r>
          </a:p>
          <a:p>
            <a:pPr algn="l">
              <a:spcAft>
                <a:spcPts val="700"/>
              </a:spcAft>
            </a:pPr>
            <a:r>
              <a:rPr sz="1600" b="0">
                <a:solidFill>
                  <a:srgbClr val="12263F"/>
                </a:solidFill>
                <a:latin typeface="Calibri"/>
              </a:rPr>
              <a:t>•  Privacy: uploads stay on the host machine; optional retention setting and delete-all with confirmation.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Testing and engineering practice</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14</a:t>
            </a:r>
          </a:p>
        </p:txBody>
      </p:sp>
      <p:sp>
        <p:nvSpPr>
          <p:cNvPr id="7" name="TextBox 6"/>
          <p:cNvSpPr txBox="1"/>
          <p:nvPr/>
        </p:nvSpPr>
        <p:spPr>
          <a:xfrm>
            <a:off x="548640" y="1280160"/>
            <a:ext cx="5486400" cy="457200"/>
          </a:xfrm>
          <a:prstGeom prst="rect">
            <a:avLst/>
          </a:prstGeom>
          <a:noFill/>
        </p:spPr>
        <p:txBody>
          <a:bodyPr wrap="square" anchor="t">
            <a:spAutoFit/>
          </a:bodyPr>
          <a:lstStyle/>
          <a:p>
            <a:pPr algn="l">
              <a:spcAft>
                <a:spcPts val="600"/>
              </a:spcAft>
            </a:pPr>
            <a:r>
              <a:rPr sz="2200" b="1">
                <a:solidFill>
                  <a:srgbClr val="1B9AAA"/>
                </a:solidFill>
                <a:latin typeface="Calibri"/>
              </a:rPr>
              <a:t>What exists</a:t>
            </a:r>
          </a:p>
        </p:txBody>
      </p:sp>
      <p:sp>
        <p:nvSpPr>
          <p:cNvPr id="8" name="TextBox 7"/>
          <p:cNvSpPr txBox="1"/>
          <p:nvPr/>
        </p:nvSpPr>
        <p:spPr>
          <a:xfrm>
            <a:off x="548640" y="1783080"/>
            <a:ext cx="5486400" cy="4480560"/>
          </a:xfrm>
          <a:prstGeom prst="rect">
            <a:avLst/>
          </a:prstGeom>
          <a:noFill/>
        </p:spPr>
        <p:txBody>
          <a:bodyPr wrap="square" anchor="t">
            <a:spAutoFit/>
          </a:bodyPr>
          <a:lstStyle/>
          <a:p>
            <a:pPr algn="l">
              <a:spcAft>
                <a:spcPts val="700"/>
              </a:spcAft>
            </a:pPr>
            <a:r>
              <a:rPr sz="1700" b="0">
                <a:solidFill>
                  <a:srgbClr val="12263F"/>
                </a:solidFill>
                <a:latin typeface="Calibri"/>
              </a:rPr>
              <a:t>•  pytest suite with a fake model service (no TensorFlow needed)</a:t>
            </a:r>
          </a:p>
          <a:p>
            <a:pPr algn="l">
              <a:spcAft>
                <a:spcPts val="700"/>
              </a:spcAft>
            </a:pPr>
            <a:r>
              <a:rPr sz="1700" b="0">
                <a:solidFill>
                  <a:srgbClr val="12263F"/>
                </a:solidFill>
                <a:latin typeface="Calibri"/>
              </a:rPr>
              <a:t>•  Upload validation: 400, 413, 415, 503 paths</a:t>
            </a:r>
          </a:p>
          <a:p>
            <a:pPr algn="l">
              <a:spcAft>
                <a:spcPts val="700"/>
              </a:spcAft>
            </a:pPr>
            <a:r>
              <a:rPr sz="1700" b="0">
                <a:solidFill>
                  <a:srgbClr val="12263F"/>
                </a:solidFill>
                <a:latin typeface="Calibri"/>
              </a:rPr>
              <a:t>•  History, delete, PDF report, stats, CORS</a:t>
            </a:r>
          </a:p>
          <a:p>
            <a:pPr algn="l">
              <a:spcAft>
                <a:spcPts val="700"/>
              </a:spcAft>
            </a:pPr>
            <a:r>
              <a:rPr sz="1700" b="0">
                <a:solidFill>
                  <a:srgbClr val="12263F"/>
                </a:solidFill>
                <a:latin typeface="Calibri"/>
              </a:rPr>
              <a:t>•  Confidence flag, entropy, model=both, retention, insights</a:t>
            </a:r>
          </a:p>
          <a:p>
            <a:pPr algn="l">
              <a:spcAft>
                <a:spcPts val="700"/>
              </a:spcAft>
            </a:pPr>
            <a:r>
              <a:rPr sz="1700" b="0">
                <a:solidFill>
                  <a:srgbClr val="12263F"/>
                </a:solidFill>
                <a:latin typeface="Calibri"/>
              </a:rPr>
              <a:t>•  CI workflow, PR template, commit convention</a:t>
            </a:r>
          </a:p>
          <a:p>
            <a:pPr algn="l">
              <a:spcAft>
                <a:spcPts val="700"/>
              </a:spcAft>
            </a:pPr>
            <a:r>
              <a:rPr sz="1700" b="0">
                <a:solidFill>
                  <a:srgbClr val="12263F"/>
                </a:solidFill>
                <a:latin typeface="Calibri"/>
              </a:rPr>
              <a:t>•  Docs set: architecture, methodology, ethics, testing, deployment</a:t>
            </a:r>
          </a:p>
        </p:txBody>
      </p:sp>
      <p:sp>
        <p:nvSpPr>
          <p:cNvPr id="9" name="TextBox 8"/>
          <p:cNvSpPr txBox="1"/>
          <p:nvPr/>
        </p:nvSpPr>
        <p:spPr>
          <a:xfrm>
            <a:off x="6309360" y="1280160"/>
            <a:ext cx="5303520" cy="457200"/>
          </a:xfrm>
          <a:prstGeom prst="rect">
            <a:avLst/>
          </a:prstGeom>
          <a:noFill/>
        </p:spPr>
        <p:txBody>
          <a:bodyPr wrap="square" anchor="t">
            <a:spAutoFit/>
          </a:bodyPr>
          <a:lstStyle/>
          <a:p>
            <a:pPr algn="l">
              <a:spcAft>
                <a:spcPts val="600"/>
              </a:spcAft>
            </a:pPr>
            <a:r>
              <a:rPr sz="2200" b="1">
                <a:solidFill>
                  <a:srgbClr val="E8A33D"/>
                </a:solidFill>
                <a:latin typeface="Calibri"/>
              </a:rPr>
              <a:t>Known gaps</a:t>
            </a:r>
          </a:p>
        </p:txBody>
      </p:sp>
      <p:sp>
        <p:nvSpPr>
          <p:cNvPr id="10" name="TextBox 9"/>
          <p:cNvSpPr txBox="1"/>
          <p:nvPr/>
        </p:nvSpPr>
        <p:spPr>
          <a:xfrm>
            <a:off x="6309360" y="1783080"/>
            <a:ext cx="5303520" cy="4480560"/>
          </a:xfrm>
          <a:prstGeom prst="rect">
            <a:avLst/>
          </a:prstGeom>
          <a:noFill/>
        </p:spPr>
        <p:txBody>
          <a:bodyPr wrap="square" anchor="t">
            <a:spAutoFit/>
          </a:bodyPr>
          <a:lstStyle/>
          <a:p>
            <a:pPr algn="l">
              <a:spcAft>
                <a:spcPts val="700"/>
              </a:spcAft>
            </a:pPr>
            <a:r>
              <a:rPr sz="1700" b="0">
                <a:solidFill>
                  <a:srgbClr val="12263F"/>
                </a:solidFill>
                <a:latin typeface="Calibri"/>
              </a:rPr>
              <a:t>•  No test runs the real .keras models through the API</a:t>
            </a:r>
          </a:p>
          <a:p>
            <a:pPr algn="l">
              <a:spcAft>
                <a:spcPts val="700"/>
              </a:spcAft>
            </a:pPr>
            <a:r>
              <a:rPr sz="1700" b="0">
                <a:solidFill>
                  <a:srgbClr val="12263F"/>
                </a:solidFill>
                <a:latin typeface="Calibri"/>
              </a:rPr>
              <a:t>•  No frontend unit or end-to-end tests yet</a:t>
            </a:r>
          </a:p>
          <a:p>
            <a:pPr algn="l">
              <a:spcAft>
                <a:spcPts val="700"/>
              </a:spcAft>
            </a:pPr>
            <a:r>
              <a:rPr sz="1700" b="0">
                <a:solidFill>
                  <a:srgbClr val="12263F"/>
                </a:solidFill>
                <a:latin typeface="Calibri"/>
              </a:rPr>
              <a:t>•  API key and rate limiter lack dedicated tests</a:t>
            </a:r>
          </a:p>
          <a:p>
            <a:pPr algn="l">
              <a:spcAft>
                <a:spcPts val="700"/>
              </a:spcAft>
            </a:pPr>
            <a:r>
              <a:rPr sz="1700" b="0">
                <a:solidFill>
                  <a:srgbClr val="12263F"/>
                </a:solidFill>
                <a:latin typeface="Calibri"/>
              </a:rPr>
              <a:t>•  Docker setup written but not run by us</a:t>
            </a:r>
          </a:p>
          <a:p>
            <a:pPr algn="l">
              <a:spcAft>
                <a:spcPts val="700"/>
              </a:spcAft>
            </a:pPr>
            <a:r>
              <a:rPr sz="1700" b="0">
                <a:solidFill>
                  <a:srgbClr val="12263F"/>
                </a:solidFill>
                <a:latin typeface="Calibri"/>
              </a:rPr>
              <a:t>•  No accessibility audit or load test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Team and roles</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15</a:t>
            </a:r>
          </a:p>
        </p:txBody>
      </p:sp>
      <p:graphicFrame>
        <p:nvGraphicFramePr>
          <p:cNvPr id="7" name="Table 6"/>
          <p:cNvGraphicFramePr>
            <a:graphicFrameLocks noGrp="1"/>
          </p:cNvGraphicFramePr>
          <p:nvPr/>
        </p:nvGraphicFramePr>
        <p:xfrm>
          <a:off x="548640" y="1371600"/>
          <a:ext cx="11064240" cy="3108960"/>
        </p:xfrm>
        <a:graphic>
          <a:graphicData uri="http://schemas.openxmlformats.org/drawingml/2006/table">
            <a:tbl>
              <a:tblPr firstRow="1" bandRow="1">
                <a:tableStyleId>{5C22544A-7EE6-4342-B048-85BDC9FD1C3A}</a:tableStyleId>
              </a:tblPr>
              <a:tblGrid>
                <a:gridCol w="2743200"/>
                <a:gridCol w="3657600"/>
                <a:gridCol w="4663440"/>
              </a:tblGrid>
              <a:tr h="621792">
                <a:tc>
                  <a:txBody>
                    <a:bodyPr/>
                    <a:lstStyle/>
                    <a:p>
                      <a:pPr algn="l"/>
                      <a:r>
                        <a:rPr sz="1700" b="1">
                          <a:solidFill>
                            <a:srgbClr val="FFFFFF"/>
                          </a:solidFill>
                          <a:latin typeface="Calibri"/>
                        </a:rPr>
                        <a:t>Member</a:t>
                      </a:r>
                    </a:p>
                  </a:txBody>
                  <a:tcPr marL="54864" marR="54864" marT="27432" marB="27432" anchor="ctr">
                    <a:solidFill>
                      <a:srgbClr val="12263F"/>
                    </a:solidFill>
                  </a:tcPr>
                </a:tc>
                <a:tc>
                  <a:txBody>
                    <a:bodyPr/>
                    <a:lstStyle/>
                    <a:p>
                      <a:pPr algn="ctr"/>
                      <a:r>
                        <a:rPr sz="1700" b="1">
                          <a:solidFill>
                            <a:srgbClr val="FFFFFF"/>
                          </a:solidFill>
                          <a:latin typeface="Calibri"/>
                        </a:rPr>
                        <a:t>Role</a:t>
                      </a:r>
                    </a:p>
                  </a:txBody>
                  <a:tcPr marL="54864" marR="54864" marT="27432" marB="27432" anchor="ctr">
                    <a:solidFill>
                      <a:srgbClr val="12263F"/>
                    </a:solidFill>
                  </a:tcPr>
                </a:tc>
                <a:tc>
                  <a:txBody>
                    <a:bodyPr/>
                    <a:lstStyle/>
                    <a:p>
                      <a:pPr algn="ctr"/>
                      <a:r>
                        <a:rPr sz="1700" b="1">
                          <a:solidFill>
                            <a:srgbClr val="FFFFFF"/>
                          </a:solidFill>
                          <a:latin typeface="Calibri"/>
                        </a:rPr>
                        <a:t>Main contribution</a:t>
                      </a:r>
                    </a:p>
                  </a:txBody>
                  <a:tcPr marL="54864" marR="54864" marT="27432" marB="27432" anchor="ctr">
                    <a:solidFill>
                      <a:srgbClr val="12263F"/>
                    </a:solidFill>
                  </a:tcPr>
                </a:tc>
              </a:tr>
              <a:tr h="621792">
                <a:tc>
                  <a:txBody>
                    <a:bodyPr/>
                    <a:lstStyle/>
                    <a:p>
                      <a:pPr algn="l"/>
                      <a:r>
                        <a:rPr sz="1700" b="1">
                          <a:solidFill>
                            <a:srgbClr val="12263F"/>
                          </a:solidFill>
                          <a:latin typeface="Calibri"/>
                        </a:rPr>
                        <a:t>Soham Sabhaya</a:t>
                      </a:r>
                    </a:p>
                  </a:txBody>
                  <a:tcPr marL="54864" marR="54864" marT="27432" marB="27432" anchor="ctr">
                    <a:solidFill>
                      <a:srgbClr val="EEF3F7"/>
                    </a:solidFill>
                  </a:tcPr>
                </a:tc>
                <a:tc>
                  <a:txBody>
                    <a:bodyPr/>
                    <a:lstStyle/>
                    <a:p>
                      <a:pPr algn="ctr"/>
                      <a:r>
                        <a:rPr sz="1700" b="0">
                          <a:solidFill>
                            <a:srgbClr val="12263F"/>
                          </a:solidFill>
                          <a:latin typeface="Calibri"/>
                        </a:rPr>
                        <a:t>ML pipeline</a:t>
                      </a:r>
                    </a:p>
                  </a:txBody>
                  <a:tcPr marL="54864" marR="54864" marT="27432" marB="27432" anchor="ctr">
                    <a:solidFill>
                      <a:srgbClr val="EEF3F7"/>
                    </a:solidFill>
                  </a:tcPr>
                </a:tc>
                <a:tc>
                  <a:txBody>
                    <a:bodyPr/>
                    <a:lstStyle/>
                    <a:p>
                      <a:pPr algn="ctr"/>
                      <a:r>
                        <a:rPr sz="1700" b="0">
                          <a:solidFill>
                            <a:srgbClr val="12263F"/>
                          </a:solidFill>
                          <a:latin typeface="Calibri"/>
                        </a:rPr>
                        <a:t>Notebook, trained models, metrics, ml/ folder</a:t>
                      </a:r>
                    </a:p>
                  </a:txBody>
                  <a:tcPr marL="54864" marR="54864" marT="27432" marB="27432" anchor="ctr">
                    <a:solidFill>
                      <a:srgbClr val="EEF3F7"/>
                    </a:solidFill>
                  </a:tcPr>
                </a:tc>
              </a:tr>
              <a:tr h="621792">
                <a:tc>
                  <a:txBody>
                    <a:bodyPr/>
                    <a:lstStyle/>
                    <a:p>
                      <a:pPr algn="l"/>
                      <a:r>
                        <a:rPr sz="1700" b="1">
                          <a:solidFill>
                            <a:srgbClr val="12263F"/>
                          </a:solidFill>
                          <a:latin typeface="Calibri"/>
                        </a:rPr>
                        <a:t>Mayur Chauhan</a:t>
                      </a:r>
                    </a:p>
                  </a:txBody>
                  <a:tcPr marL="54864" marR="54864" marT="27432" marB="27432" anchor="ctr">
                    <a:solidFill>
                      <a:srgbClr val="FFFFFF"/>
                    </a:solidFill>
                  </a:tcPr>
                </a:tc>
                <a:tc>
                  <a:txBody>
                    <a:bodyPr/>
                    <a:lstStyle/>
                    <a:p>
                      <a:pPr algn="ctr"/>
                      <a:r>
                        <a:rPr sz="1700" b="0">
                          <a:solidFill>
                            <a:srgbClr val="12263F"/>
                          </a:solidFill>
                          <a:latin typeface="Calibri"/>
                        </a:rPr>
                        <a:t>Web application</a:t>
                      </a:r>
                    </a:p>
                  </a:txBody>
                  <a:tcPr marL="54864" marR="54864" marT="27432" marB="27432" anchor="ctr">
                    <a:solidFill>
                      <a:srgbClr val="FFFFFF"/>
                    </a:solidFill>
                  </a:tcPr>
                </a:tc>
                <a:tc>
                  <a:txBody>
                    <a:bodyPr/>
                    <a:lstStyle/>
                    <a:p>
                      <a:pPr algn="ctr"/>
                      <a:r>
                        <a:rPr sz="1700" b="0">
                          <a:solidFill>
                            <a:srgbClr val="12263F"/>
                          </a:solidFill>
                          <a:latin typeface="Calibri"/>
                        </a:rPr>
                        <a:t>FastAPI backend and React frontend</a:t>
                      </a:r>
                    </a:p>
                  </a:txBody>
                  <a:tcPr marL="54864" marR="54864" marT="27432" marB="27432" anchor="ctr">
                    <a:solidFill>
                      <a:srgbClr val="FFFFFF"/>
                    </a:solidFill>
                  </a:tcPr>
                </a:tc>
              </a:tr>
              <a:tr h="621792">
                <a:tc>
                  <a:txBody>
                    <a:bodyPr/>
                    <a:lstStyle/>
                    <a:p>
                      <a:pPr algn="l"/>
                      <a:r>
                        <a:rPr sz="1700" b="1">
                          <a:solidFill>
                            <a:srgbClr val="12263F"/>
                          </a:solidFill>
                          <a:latin typeface="Calibri"/>
                        </a:rPr>
                        <a:t>[Member 3 name]</a:t>
                      </a:r>
                    </a:p>
                  </a:txBody>
                  <a:tcPr marL="54864" marR="54864" marT="27432" marB="27432" anchor="ctr">
                    <a:solidFill>
                      <a:srgbClr val="EEF3F7"/>
                    </a:solidFill>
                  </a:tcPr>
                </a:tc>
                <a:tc>
                  <a:txBody>
                    <a:bodyPr/>
                    <a:lstStyle/>
                    <a:p>
                      <a:pPr algn="ctr"/>
                      <a:r>
                        <a:rPr sz="1700" b="0">
                          <a:solidFill>
                            <a:srgbClr val="12263F"/>
                          </a:solidFill>
                          <a:latin typeface="Calibri"/>
                        </a:rPr>
                        <a:t>[Role, e.g. QA and testing]</a:t>
                      </a:r>
                    </a:p>
                  </a:txBody>
                  <a:tcPr marL="54864" marR="54864" marT="27432" marB="27432" anchor="ctr">
                    <a:solidFill>
                      <a:srgbClr val="EEF3F7"/>
                    </a:solidFill>
                  </a:tcPr>
                </a:tc>
                <a:tc>
                  <a:txBody>
                    <a:bodyPr/>
                    <a:lstStyle/>
                    <a:p>
                      <a:pPr algn="ctr"/>
                      <a:r>
                        <a:rPr sz="1700" b="0">
                          <a:solidFill>
                            <a:srgbClr val="12263F"/>
                          </a:solidFill>
                          <a:latin typeface="Calibri"/>
                        </a:rPr>
                        <a:t>[Add real contribution]</a:t>
                      </a:r>
                    </a:p>
                  </a:txBody>
                  <a:tcPr marL="54864" marR="54864" marT="27432" marB="27432" anchor="ctr">
                    <a:solidFill>
                      <a:srgbClr val="EEF3F7"/>
                    </a:solidFill>
                  </a:tcPr>
                </a:tc>
              </a:tr>
              <a:tr h="621792">
                <a:tc>
                  <a:txBody>
                    <a:bodyPr/>
                    <a:lstStyle/>
                    <a:p>
                      <a:pPr algn="l"/>
                      <a:r>
                        <a:rPr sz="1700" b="1">
                          <a:solidFill>
                            <a:srgbClr val="12263F"/>
                          </a:solidFill>
                          <a:latin typeface="Calibri"/>
                        </a:rPr>
                        <a:t>[Member 4 name]</a:t>
                      </a:r>
                    </a:p>
                  </a:txBody>
                  <a:tcPr marL="54864" marR="54864" marT="27432" marB="27432" anchor="ctr">
                    <a:solidFill>
                      <a:srgbClr val="FFFFFF"/>
                    </a:solidFill>
                  </a:tcPr>
                </a:tc>
                <a:tc>
                  <a:txBody>
                    <a:bodyPr/>
                    <a:lstStyle/>
                    <a:p>
                      <a:pPr algn="ctr"/>
                      <a:r>
                        <a:rPr sz="1700" b="0">
                          <a:solidFill>
                            <a:srgbClr val="12263F"/>
                          </a:solidFill>
                          <a:latin typeface="Calibri"/>
                        </a:rPr>
                        <a:t>[Role, e.g. documentation and demo]</a:t>
                      </a:r>
                    </a:p>
                  </a:txBody>
                  <a:tcPr marL="54864" marR="54864" marT="27432" marB="27432" anchor="ctr">
                    <a:solidFill>
                      <a:srgbClr val="FFFFFF"/>
                    </a:solidFill>
                  </a:tcPr>
                </a:tc>
                <a:tc>
                  <a:txBody>
                    <a:bodyPr/>
                    <a:lstStyle/>
                    <a:p>
                      <a:pPr algn="ctr"/>
                      <a:r>
                        <a:rPr sz="1700" b="0">
                          <a:solidFill>
                            <a:srgbClr val="12263F"/>
                          </a:solidFill>
                          <a:latin typeface="Calibri"/>
                        </a:rPr>
                        <a:t>[Add real contribution]</a:t>
                      </a:r>
                    </a:p>
                  </a:txBody>
                  <a:tcPr marL="54864" marR="54864" marT="27432" marB="27432" anchor="ctr">
                    <a:solidFill>
                      <a:srgbClr val="FFFFFF"/>
                    </a:solidFill>
                  </a:tcPr>
                </a:tc>
              </a:tr>
            </a:tbl>
          </a:graphicData>
        </a:graphic>
      </p:graphicFrame>
      <p:sp>
        <p:nvSpPr>
          <p:cNvPr id="8" name="TextBox 7"/>
          <p:cNvSpPr txBox="1"/>
          <p:nvPr/>
        </p:nvSpPr>
        <p:spPr>
          <a:xfrm>
            <a:off x="548640" y="4754880"/>
            <a:ext cx="11064240" cy="1463040"/>
          </a:xfrm>
          <a:prstGeom prst="rect">
            <a:avLst/>
          </a:prstGeom>
          <a:noFill/>
        </p:spPr>
        <p:txBody>
          <a:bodyPr wrap="square" anchor="t">
            <a:spAutoFit/>
          </a:bodyPr>
          <a:lstStyle/>
          <a:p>
            <a:pPr algn="l">
              <a:spcAft>
                <a:spcPts val="700"/>
              </a:spcAft>
            </a:pPr>
            <a:r>
              <a:rPr sz="1600" b="0">
                <a:solidFill>
                  <a:srgbClr val="12263F"/>
                </a:solidFill>
                <a:latin typeface="Calibri"/>
              </a:rPr>
              <a:t>•  Workflow: feature branches from upstream dev, pull requests, a second reviewer, CI must pass.</a:t>
            </a:r>
          </a:p>
          <a:p>
            <a:pPr algn="l">
              <a:spcAft>
                <a:spcPts val="700"/>
              </a:spcAft>
            </a:pPr>
            <a:r>
              <a:rPr sz="1600" b="0">
                <a:solidFill>
                  <a:srgbClr val="12263F"/>
                </a:solidFill>
                <a:latin typeface="Calibri"/>
              </a:rPr>
              <a:t>•  Roles for members 3 and 4 are proposals in docs/TEAM.md and must be confirmed by the team.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Limitations (honest view)</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16</a:t>
            </a:r>
          </a:p>
        </p:txBody>
      </p:sp>
      <p:sp>
        <p:nvSpPr>
          <p:cNvPr id="7" name="TextBox 6"/>
          <p:cNvSpPr txBox="1"/>
          <p:nvPr/>
        </p:nvSpPr>
        <p:spPr>
          <a:xfrm>
            <a:off x="548640" y="1280160"/>
            <a:ext cx="11064240" cy="5029200"/>
          </a:xfrm>
          <a:prstGeom prst="rect">
            <a:avLst/>
          </a:prstGeom>
          <a:noFill/>
        </p:spPr>
        <p:txBody>
          <a:bodyPr wrap="square" anchor="t">
            <a:spAutoFit/>
          </a:bodyPr>
          <a:lstStyle/>
          <a:p>
            <a:pPr algn="l">
              <a:spcAft>
                <a:spcPts val="800"/>
              </a:spcAft>
            </a:pPr>
            <a:r>
              <a:rPr sz="1800" b="0">
                <a:solidFill>
                  <a:srgbClr val="12263F"/>
                </a:solidFill>
                <a:latin typeface="Calibri"/>
              </a:rPr>
              <a:t>•  138 duplicate hashes (171 copies) inside Training: validation accuracy is optimistic; rely on the test result.</a:t>
            </a:r>
          </a:p>
          <a:p>
            <a:pPr algn="l">
              <a:spcAft>
                <a:spcPts val="800"/>
              </a:spcAft>
            </a:pPr>
            <a:r>
              <a:rPr sz="1800" b="0">
                <a:solidFill>
                  <a:srgbClr val="12263F"/>
                </a:solidFill>
                <a:latin typeface="Calibri"/>
              </a:rPr>
              <a:t>•  Patient-level independence unknown; near-duplicates not checked.</a:t>
            </a:r>
          </a:p>
          <a:p>
            <a:pPr algn="l">
              <a:spcAft>
                <a:spcPts val="800"/>
              </a:spcAft>
            </a:pPr>
            <a:r>
              <a:rPr sz="1800" b="0">
                <a:solidFill>
                  <a:srgbClr val="12263F"/>
                </a:solidFill>
                <a:latin typeface="Calibri"/>
              </a:rPr>
              <a:t>•  Single public source, no external validation; scanner and site variation not represented.</a:t>
            </a:r>
          </a:p>
          <a:p>
            <a:pPr algn="l">
              <a:spcAft>
                <a:spcPts val="800"/>
              </a:spcAft>
            </a:pPr>
            <a:r>
              <a:rPr sz="1800" b="0">
                <a:solidFill>
                  <a:srgbClr val="12263F"/>
                </a:solidFill>
                <a:latin typeface="Calibri"/>
              </a:rPr>
              <a:t>•  Single run, frozen backbone, no confidence intervals; custom CNN training log is incomplete.</a:t>
            </a:r>
          </a:p>
          <a:p>
            <a:pPr algn="l">
              <a:spcAft>
                <a:spcPts val="800"/>
              </a:spcAft>
            </a:pPr>
            <a:r>
              <a:rPr sz="1800" b="0">
                <a:solidFill>
                  <a:srgbClr val="12263F"/>
                </a:solidFill>
                <a:latin typeface="Calibri"/>
              </a:rPr>
              <a:t>•  Softmax confidence is uncalibrated; the 0.6 threshold is pragmatic.</a:t>
            </a:r>
          </a:p>
          <a:p>
            <a:pPr algn="l">
              <a:spcAft>
                <a:spcPts val="800"/>
              </a:spcAft>
            </a:pPr>
            <a:r>
              <a:rPr sz="1800" b="0">
                <a:solidFill>
                  <a:srgbClr val="12263F"/>
                </a:solidFill>
                <a:latin typeface="Calibri"/>
              </a:rPr>
              <a:t>•  Balanced test set differs from real prevalence; non-brain images still get one of four labels.</a:t>
            </a:r>
          </a:p>
          <a:p>
            <a:pPr algn="l">
              <a:spcAft>
                <a:spcPts val="800"/>
              </a:spcAft>
            </a:pPr>
            <a:r>
              <a:rPr sz="1800" b="0">
                <a:solidFill>
                  <a:srgbClr val="12263F"/>
                </a:solidFill>
                <a:latin typeface="Calibri"/>
              </a:rPr>
              <a:t>•  Not a medical device: no clinical validation, no regulatory clearance, not for diagnosis.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Future work (planned, not done)</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17</a:t>
            </a:r>
          </a:p>
        </p:txBody>
      </p:sp>
      <p:sp>
        <p:nvSpPr>
          <p:cNvPr id="7" name="TextBox 6"/>
          <p:cNvSpPr txBox="1"/>
          <p:nvPr/>
        </p:nvSpPr>
        <p:spPr>
          <a:xfrm>
            <a:off x="548640" y="1280160"/>
            <a:ext cx="5486400" cy="457200"/>
          </a:xfrm>
          <a:prstGeom prst="rect">
            <a:avLst/>
          </a:prstGeom>
          <a:noFill/>
        </p:spPr>
        <p:txBody>
          <a:bodyPr wrap="square" anchor="t">
            <a:spAutoFit/>
          </a:bodyPr>
          <a:lstStyle/>
          <a:p>
            <a:pPr algn="l">
              <a:spcAft>
                <a:spcPts val="600"/>
              </a:spcAft>
            </a:pPr>
            <a:r>
              <a:rPr sz="2200" b="1">
                <a:solidFill>
                  <a:srgbClr val="1B9AAA"/>
                </a:solidFill>
                <a:latin typeface="Calibri"/>
              </a:rPr>
              <a:t>Machine learning</a:t>
            </a:r>
          </a:p>
        </p:txBody>
      </p:sp>
      <p:sp>
        <p:nvSpPr>
          <p:cNvPr id="8" name="TextBox 7"/>
          <p:cNvSpPr txBox="1"/>
          <p:nvPr/>
        </p:nvSpPr>
        <p:spPr>
          <a:xfrm>
            <a:off x="548640" y="1783080"/>
            <a:ext cx="5486400" cy="4480560"/>
          </a:xfrm>
          <a:prstGeom prst="rect">
            <a:avLst/>
          </a:prstGeom>
          <a:noFill/>
        </p:spPr>
        <p:txBody>
          <a:bodyPr wrap="square" anchor="t">
            <a:spAutoFit/>
          </a:bodyPr>
          <a:lstStyle/>
          <a:p>
            <a:pPr algn="l">
              <a:spcAft>
                <a:spcPts val="800"/>
              </a:spcAft>
            </a:pPr>
            <a:r>
              <a:rPr sz="1800" b="0">
                <a:solidFill>
                  <a:srgbClr val="12263F"/>
                </a:solidFill>
                <a:latin typeface="Calibri"/>
              </a:rPr>
              <a:t>•  De-duplicate Training and re-split before validation</a:t>
            </a:r>
          </a:p>
          <a:p>
            <a:pPr algn="l">
              <a:spcAft>
                <a:spcPts val="800"/>
              </a:spcAft>
            </a:pPr>
            <a:r>
              <a:rPr sz="1800" b="0">
                <a:solidFill>
                  <a:srgbClr val="12263F"/>
                </a:solidFill>
                <a:latin typeface="Calibri"/>
              </a:rPr>
              <a:t>•  Fine-tune top ResNet50 blocks; compare with frozen baseline</a:t>
            </a:r>
          </a:p>
          <a:p>
            <a:pPr algn="l">
              <a:spcAft>
                <a:spcPts val="800"/>
              </a:spcAft>
            </a:pPr>
            <a:r>
              <a:rPr sz="1800" b="0">
                <a:solidFill>
                  <a:srgbClr val="12263F"/>
                </a:solidFill>
                <a:latin typeface="Calibri"/>
              </a:rPr>
              <a:t>•  Several seeds; report mean and spread; bootstrap intervals</a:t>
            </a:r>
          </a:p>
          <a:p>
            <a:pPr algn="l">
              <a:spcAft>
                <a:spcPts val="800"/>
              </a:spcAft>
            </a:pPr>
            <a:r>
              <a:rPr sz="1800" b="0">
                <a:solidFill>
                  <a:srgbClr val="12263F"/>
                </a:solidFill>
                <a:latin typeface="Calibri"/>
              </a:rPr>
              <a:t>•  Temperature scaling and calibration</a:t>
            </a:r>
          </a:p>
          <a:p>
            <a:pPr algn="l">
              <a:spcAft>
                <a:spcPts val="800"/>
              </a:spcAft>
            </a:pPr>
            <a:r>
              <a:rPr sz="1800" b="0">
                <a:solidFill>
                  <a:srgbClr val="12263F"/>
                </a:solidFill>
                <a:latin typeface="Calibri"/>
              </a:rPr>
              <a:t>•  External validation if a suitable dataset exists</a:t>
            </a:r>
          </a:p>
        </p:txBody>
      </p:sp>
      <p:sp>
        <p:nvSpPr>
          <p:cNvPr id="9" name="TextBox 8"/>
          <p:cNvSpPr txBox="1"/>
          <p:nvPr/>
        </p:nvSpPr>
        <p:spPr>
          <a:xfrm>
            <a:off x="6309360" y="1280160"/>
            <a:ext cx="5303520" cy="457200"/>
          </a:xfrm>
          <a:prstGeom prst="rect">
            <a:avLst/>
          </a:prstGeom>
          <a:noFill/>
        </p:spPr>
        <p:txBody>
          <a:bodyPr wrap="square" anchor="t">
            <a:spAutoFit/>
          </a:bodyPr>
          <a:lstStyle/>
          <a:p>
            <a:pPr algn="l">
              <a:spcAft>
                <a:spcPts val="600"/>
              </a:spcAft>
            </a:pPr>
            <a:r>
              <a:rPr sz="2200" b="1">
                <a:solidFill>
                  <a:srgbClr val="1B9AAA"/>
                </a:solidFill>
                <a:latin typeface="Calibri"/>
              </a:rPr>
              <a:t>Application</a:t>
            </a:r>
          </a:p>
        </p:txBody>
      </p:sp>
      <p:sp>
        <p:nvSpPr>
          <p:cNvPr id="10" name="TextBox 9"/>
          <p:cNvSpPr txBox="1"/>
          <p:nvPr/>
        </p:nvSpPr>
        <p:spPr>
          <a:xfrm>
            <a:off x="6309360" y="1783080"/>
            <a:ext cx="5303520" cy="4480560"/>
          </a:xfrm>
          <a:prstGeom prst="rect">
            <a:avLst/>
          </a:prstGeom>
          <a:noFill/>
        </p:spPr>
        <p:txBody>
          <a:bodyPr wrap="square" anchor="t">
            <a:spAutoFit/>
          </a:bodyPr>
          <a:lstStyle/>
          <a:p>
            <a:pPr algn="l">
              <a:spcAft>
                <a:spcPts val="800"/>
              </a:spcAft>
            </a:pPr>
            <a:r>
              <a:rPr sz="1800" b="0">
                <a:solidFill>
                  <a:srgbClr val="12263F"/>
                </a:solidFill>
                <a:latin typeface="Calibri"/>
              </a:rPr>
              <a:t>•  Frontend tests and lint in CI</a:t>
            </a:r>
          </a:p>
          <a:p>
            <a:pPr algn="l">
              <a:spcAft>
                <a:spcPts val="800"/>
              </a:spcAft>
            </a:pPr>
            <a:r>
              <a:rPr sz="1800" b="0">
                <a:solidFill>
                  <a:srgbClr val="12263F"/>
                </a:solidFill>
                <a:latin typeface="Calibri"/>
              </a:rPr>
              <a:t>•  Verify Docker setup; configurable API base URL</a:t>
            </a:r>
          </a:p>
          <a:p>
            <a:pPr algn="l">
              <a:spcAft>
                <a:spcPts val="800"/>
              </a:spcAft>
            </a:pPr>
            <a:r>
              <a:rPr sz="1800" b="0">
                <a:solidFill>
                  <a:srgbClr val="12263F"/>
                </a:solidFill>
                <a:latin typeface="Calibri"/>
              </a:rPr>
              <a:t>•  Out-of-distribution rejection for non-MRI images</a:t>
            </a:r>
          </a:p>
          <a:p>
            <a:pPr algn="l">
              <a:spcAft>
                <a:spcPts val="800"/>
              </a:spcAft>
            </a:pPr>
            <a:r>
              <a:rPr sz="1800" b="0">
                <a:solidFill>
                  <a:srgbClr val="12263F"/>
                </a:solidFill>
                <a:latin typeface="Calibri"/>
              </a:rPr>
              <a:t>•  Accessibility audit</a:t>
            </a:r>
          </a:p>
          <a:p>
            <a:pPr algn="l">
              <a:spcAft>
                <a:spcPts val="800"/>
              </a:spcAft>
            </a:pPr>
            <a:r>
              <a:rPr sz="1800" b="0">
                <a:solidFill>
                  <a:srgbClr val="12263F"/>
                </a:solidFill>
                <a:latin typeface="Calibri"/>
              </a:rPr>
              <a:t>•  Public demo with synthetic or public images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2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1247120" cy="731520"/>
          </a:xfrm>
          <a:prstGeom prst="rect">
            <a:avLst/>
          </a:prstGeom>
          <a:noFill/>
        </p:spPr>
        <p:txBody>
          <a:bodyPr wrap="square" anchor="t">
            <a:spAutoFit/>
          </a:bodyPr>
          <a:lstStyle/>
          <a:p>
            <a:pPr algn="l">
              <a:spcAft>
                <a:spcPts val="600"/>
              </a:spcAft>
            </a:pPr>
            <a:r>
              <a:rPr sz="3000" b="1">
                <a:solidFill>
                  <a:srgbClr val="12263F"/>
                </a:solidFill>
                <a:latin typeface="Calibri"/>
              </a:rPr>
              <a:t>Conclusion and questions</a:t>
            </a:r>
          </a:p>
        </p:txBody>
      </p:sp>
      <p:sp>
        <p:nvSpPr>
          <p:cNvPr id="4" name="Rectangle 3"/>
          <p:cNvSpPr/>
          <p:nvPr/>
        </p:nvSpPr>
        <p:spPr>
          <a:xfrm>
            <a:off x="548640" y="1005840"/>
            <a:ext cx="109728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46520"/>
            <a:ext cx="9144000" cy="320040"/>
          </a:xfrm>
          <a:prstGeom prst="rect">
            <a:avLst/>
          </a:prstGeom>
          <a:noFill/>
        </p:spPr>
        <p:txBody>
          <a:bodyPr wrap="square" anchor="t">
            <a:spAutoFit/>
          </a:bodyPr>
          <a:lstStyle/>
          <a:p>
            <a:pPr algn="l">
              <a:spcAft>
                <a:spcPts val="600"/>
              </a:spcAft>
            </a:pPr>
            <a:r>
              <a:rPr sz="1100" b="0">
                <a:solidFill>
                  <a:srgbClr val="5A6778"/>
                </a:solidFill>
                <a:latin typeface="Calibri"/>
              </a:rPr>
              <a:t>BrainScan AI  |  Educational prototype, not a medical device</a:t>
            </a:r>
          </a:p>
        </p:txBody>
      </p:sp>
      <p:sp>
        <p:nvSpPr>
          <p:cNvPr id="6" name="TextBox 5"/>
          <p:cNvSpPr txBox="1"/>
          <p:nvPr/>
        </p:nvSpPr>
        <p:spPr>
          <a:xfrm>
            <a:off x="10972800" y="6446520"/>
            <a:ext cx="822960" cy="320040"/>
          </a:xfrm>
          <a:prstGeom prst="rect">
            <a:avLst/>
          </a:prstGeom>
          <a:noFill/>
        </p:spPr>
        <p:txBody>
          <a:bodyPr wrap="square" anchor="t">
            <a:spAutoFit/>
          </a:bodyPr>
          <a:lstStyle/>
          <a:p>
            <a:pPr algn="r">
              <a:spcAft>
                <a:spcPts val="600"/>
              </a:spcAft>
            </a:pPr>
            <a:r>
              <a:rPr sz="1100" b="0">
                <a:solidFill>
                  <a:srgbClr val="5A6778"/>
                </a:solidFill>
                <a:latin typeface="Calibri"/>
              </a:rPr>
              <a:t>18</a:t>
            </a:r>
          </a:p>
        </p:txBody>
      </p:sp>
      <p:sp>
        <p:nvSpPr>
          <p:cNvPr id="7" name="TextBox 6"/>
          <p:cNvSpPr txBox="1"/>
          <p:nvPr/>
        </p:nvSpPr>
        <p:spPr>
          <a:xfrm>
            <a:off x="548640" y="1280160"/>
            <a:ext cx="6583680" cy="4937760"/>
          </a:xfrm>
          <a:prstGeom prst="rect">
            <a:avLst/>
          </a:prstGeom>
          <a:noFill/>
        </p:spPr>
        <p:txBody>
          <a:bodyPr wrap="square" anchor="t">
            <a:spAutoFit/>
          </a:bodyPr>
          <a:lstStyle/>
          <a:p>
            <a:pPr algn="l">
              <a:spcAft>
                <a:spcPts val="1000"/>
              </a:spcAft>
            </a:pPr>
            <a:r>
              <a:rPr sz="1900" b="0">
                <a:solidFill>
                  <a:srgbClr val="12263F"/>
                </a:solidFill>
                <a:latin typeface="Calibri"/>
              </a:rPr>
              <a:t>•  Transfer learning helped: ResNet50 90.00% vs custom CNN 74.31% on 1,600 test images.</a:t>
            </a:r>
          </a:p>
          <a:p>
            <a:pPr algn="l">
              <a:spcAft>
                <a:spcPts val="1000"/>
              </a:spcAft>
            </a:pPr>
            <a:r>
              <a:rPr sz="1900" b="0">
                <a:solidFill>
                  <a:srgbClr val="12263F"/>
                </a:solidFill>
                <a:latin typeface="Calibri"/>
              </a:rPr>
              <a:t>•  Per-class results show weak spots: glioma recall 0.71 (ResNet50), meningioma recall 0.25 (custom CNN).</a:t>
            </a:r>
          </a:p>
          <a:p>
            <a:pPr algn="l">
              <a:spcAft>
                <a:spcPts val="1000"/>
              </a:spcAft>
            </a:pPr>
            <a:r>
              <a:rPr sz="1900" b="0">
                <a:solidFill>
                  <a:srgbClr val="12263F"/>
                </a:solidFill>
                <a:latin typeface="Calibri"/>
              </a:rPr>
              <a:t>•  Data duplicates and the missing external validation limit what the numbers mean.</a:t>
            </a:r>
          </a:p>
          <a:p>
            <a:pPr algn="l">
              <a:spcAft>
                <a:spcPts val="1000"/>
              </a:spcAft>
            </a:pPr>
            <a:r>
              <a:rPr sz="1900" b="0">
                <a:solidFill>
                  <a:srgbClr val="12263F"/>
                </a:solidFill>
                <a:latin typeface="Calibri"/>
              </a:rPr>
              <a:t>•  The web app adds explanation, an uncertain state and privacy-minded storage.</a:t>
            </a:r>
          </a:p>
          <a:p>
            <a:pPr algn="l">
              <a:spcAft>
                <a:spcPts val="1000"/>
              </a:spcAft>
            </a:pPr>
            <a:r>
              <a:rPr sz="1900" b="0">
                <a:solidFill>
                  <a:srgbClr val="12263F"/>
                </a:solidFill>
                <a:latin typeface="Calibri"/>
              </a:rPr>
              <a:t>•  Educational prototype only; not a medical device.</a:t>
            </a:r>
          </a:p>
        </p:txBody>
      </p:sp>
      <p:sp>
        <p:nvSpPr>
          <p:cNvPr id="8" name="Rectangle 7"/>
          <p:cNvSpPr/>
          <p:nvPr/>
        </p:nvSpPr>
        <p:spPr>
          <a:xfrm>
            <a:off x="7498079" y="1371600"/>
            <a:ext cx="4114800" cy="42062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35240" y="1463040"/>
            <a:ext cx="3840480" cy="457200"/>
          </a:xfrm>
          <a:prstGeom prst="rect">
            <a:avLst/>
          </a:prstGeom>
          <a:noFill/>
        </p:spPr>
        <p:txBody>
          <a:bodyPr wrap="square" anchor="t">
            <a:spAutoFit/>
          </a:bodyPr>
          <a:lstStyle/>
          <a:p>
            <a:pPr algn="l">
              <a:spcAft>
                <a:spcPts val="600"/>
              </a:spcAft>
            </a:pPr>
            <a:r>
              <a:rPr sz="1800" b="1">
                <a:solidFill>
                  <a:srgbClr val="1B9AAA"/>
                </a:solidFill>
                <a:latin typeface="Calibri"/>
              </a:rPr>
              <a:t>References</a:t>
            </a:r>
          </a:p>
        </p:txBody>
      </p:sp>
      <p:sp>
        <p:nvSpPr>
          <p:cNvPr id="10" name="TextBox 9"/>
          <p:cNvSpPr txBox="1"/>
          <p:nvPr/>
        </p:nvSpPr>
        <p:spPr>
          <a:xfrm>
            <a:off x="7635240" y="1965960"/>
            <a:ext cx="3840480" cy="3566160"/>
          </a:xfrm>
          <a:prstGeom prst="rect">
            <a:avLst/>
          </a:prstGeom>
          <a:noFill/>
        </p:spPr>
        <p:txBody>
          <a:bodyPr wrap="square" anchor="t">
            <a:spAutoFit/>
          </a:bodyPr>
          <a:lstStyle/>
          <a:p>
            <a:pPr algn="l">
              <a:spcAft>
                <a:spcPts val="600"/>
              </a:spcAft>
            </a:pPr>
            <a:r>
              <a:rPr sz="1300" b="0">
                <a:solidFill>
                  <a:srgbClr val="12263F"/>
                </a:solidFill>
                <a:latin typeface="Calibri"/>
              </a:rPr>
              <a:t>Nickparvar, M. Brain Tumor MRI Dataset, Kaggle, 2021.</a:t>
            </a:r>
          </a:p>
          <a:p>
            <a:pPr algn="l">
              <a:spcAft>
                <a:spcPts val="600"/>
              </a:spcAft>
            </a:pPr>
            <a:r>
              <a:rPr sz="1300" b="0">
                <a:solidFill>
                  <a:srgbClr val="12263F"/>
                </a:solidFill>
                <a:latin typeface="Calibri"/>
              </a:rPr>
              <a:t>Cheng, J. et al. Brain tumor dataset, figshare, 2015.</a:t>
            </a:r>
          </a:p>
          <a:p>
            <a:pPr algn="l">
              <a:spcAft>
                <a:spcPts val="600"/>
              </a:spcAft>
            </a:pPr>
            <a:r>
              <a:rPr sz="1300" b="0">
                <a:solidFill>
                  <a:srgbClr val="12263F"/>
                </a:solidFill>
                <a:latin typeface="Calibri"/>
              </a:rPr>
              <a:t>He, K. et al. Deep Residual Learning for Image Recognition, CVPR 2016.</a:t>
            </a:r>
          </a:p>
          <a:p>
            <a:pPr algn="l">
              <a:spcAft>
                <a:spcPts val="600"/>
              </a:spcAft>
            </a:pPr>
            <a:r>
              <a:rPr sz="1300" b="0">
                <a:solidFill>
                  <a:srgbClr val="12263F"/>
                </a:solidFill>
                <a:latin typeface="Calibri"/>
              </a:rPr>
              <a:t>Selvaraju, R. R. et al. Grad-CAM, ICCV 2017.</a:t>
            </a:r>
          </a:p>
        </p:txBody>
      </p:sp>
      <p:sp>
        <p:nvSpPr>
          <p:cNvPr id="11" name="TextBox 10"/>
          <p:cNvSpPr txBox="1"/>
          <p:nvPr/>
        </p:nvSpPr>
        <p:spPr>
          <a:xfrm>
            <a:off x="548640" y="5669280"/>
            <a:ext cx="10972800" cy="640080"/>
          </a:xfrm>
          <a:prstGeom prst="rect">
            <a:avLst/>
          </a:prstGeom>
          <a:noFill/>
        </p:spPr>
        <p:txBody>
          <a:bodyPr wrap="square" anchor="t">
            <a:spAutoFit/>
          </a:bodyPr>
          <a:lstStyle/>
          <a:p>
            <a:pPr algn="l">
              <a:spcAft>
                <a:spcPts val="600"/>
              </a:spcAft>
            </a:pPr>
            <a:r>
              <a:rPr sz="2600" b="1">
                <a:solidFill>
                  <a:srgbClr val="E8A33D"/>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